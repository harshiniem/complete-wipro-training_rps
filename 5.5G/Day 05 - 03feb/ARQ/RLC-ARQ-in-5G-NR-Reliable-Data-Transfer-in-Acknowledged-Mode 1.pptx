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ontserrat" panose="00000500000000000000" pitchFamily="2"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89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IN"/>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59976" y="774926"/>
            <a:ext cx="7556421" cy="3049942"/>
          </a:xfrm>
          <a:prstGeom prst="rect">
            <a:avLst/>
          </a:prstGeom>
          <a:noFill/>
          <a:ln/>
        </p:spPr>
        <p:txBody>
          <a:bodyPr wrap="square" lIns="0" tIns="0" rIns="0" bIns="0" rtlCol="0" anchor="t"/>
          <a:lstStyle/>
          <a:p>
            <a:pPr marL="0" indent="0" algn="l">
              <a:lnSpc>
                <a:spcPts val="6650"/>
              </a:lnSpc>
              <a:buNone/>
            </a:pPr>
            <a:r>
              <a:rPr lang="en-US" sz="4800" dirty="0">
                <a:solidFill>
                  <a:srgbClr val="532418"/>
                </a:solidFill>
                <a:latin typeface="Marcellus" pitchFamily="34" charset="0"/>
                <a:ea typeface="Marcellus" pitchFamily="34" charset="-122"/>
                <a:cs typeface="Marcellus" pitchFamily="34" charset="-120"/>
              </a:rPr>
              <a:t>RLC ARQ in 5G NR – Reliable Data Transfer in Acknowledged Mode</a:t>
            </a:r>
            <a:endParaRPr lang="en-US" sz="4800" dirty="0"/>
          </a:p>
        </p:txBody>
      </p:sp>
      <p:sp>
        <p:nvSpPr>
          <p:cNvPr id="4" name="Text 1"/>
          <p:cNvSpPr/>
          <p:nvPr/>
        </p:nvSpPr>
        <p:spPr>
          <a:xfrm>
            <a:off x="793790" y="5092659"/>
            <a:ext cx="6409730" cy="2543175"/>
          </a:xfrm>
          <a:prstGeom prst="rect">
            <a:avLst/>
          </a:prstGeom>
          <a:noFill/>
          <a:ln/>
        </p:spPr>
        <p:txBody>
          <a:bodyPr wrap="none" lIns="0" tIns="0" rIns="0" bIns="0" rtlCol="0" anchor="t"/>
          <a:lstStyle/>
          <a:p>
            <a:pPr marL="0" indent="0" algn="l">
              <a:lnSpc>
                <a:spcPts val="5300"/>
              </a:lnSpc>
              <a:buNone/>
            </a:pPr>
            <a:r>
              <a:rPr lang="en-US" sz="4100" b="1" dirty="0">
                <a:solidFill>
                  <a:srgbClr val="532418"/>
                </a:solidFill>
                <a:latin typeface="Marcellus" pitchFamily="34" charset="0"/>
                <a:ea typeface="Marcellus" pitchFamily="34" charset="-122"/>
                <a:cs typeface="Marcellus" pitchFamily="34" charset="-120"/>
              </a:rPr>
              <a:t>Presented by Group 3:</a:t>
            </a:r>
          </a:p>
          <a:p>
            <a:pPr marL="800100" lvl="1" indent="-457200">
              <a:lnSpc>
                <a:spcPts val="2000"/>
              </a:lnSpc>
              <a:buSzPct val="100000"/>
              <a:buFont typeface="+mj-lt"/>
              <a:buAutoNum type="arabicPeriod"/>
            </a:pPr>
            <a:r>
              <a:rPr lang="en-US" sz="2000" b="1" dirty="0">
                <a:solidFill>
                  <a:srgbClr val="67534F"/>
                </a:solidFill>
                <a:latin typeface="+mj-lt"/>
                <a:ea typeface="Montserrat" pitchFamily="34" charset="-122"/>
                <a:cs typeface="Montserrat" pitchFamily="34" charset="-120"/>
              </a:rPr>
              <a:t>55984 – Vikas Srivastava</a:t>
            </a:r>
            <a:endParaRPr lang="en-US" sz="2000" dirty="0">
              <a:latin typeface="+mj-lt"/>
            </a:endParaRPr>
          </a:p>
          <a:p>
            <a:pPr marL="800100" lvl="1" indent="-457200">
              <a:lnSpc>
                <a:spcPts val="2000"/>
              </a:lnSpc>
              <a:buSzPct val="100000"/>
              <a:buFont typeface="+mj-lt"/>
              <a:buAutoNum type="arabicPeriod"/>
            </a:pPr>
            <a:r>
              <a:rPr lang="en-US" sz="2000" b="1" dirty="0">
                <a:solidFill>
                  <a:srgbClr val="67534F"/>
                </a:solidFill>
                <a:latin typeface="+mj-lt"/>
                <a:ea typeface="Montserrat" pitchFamily="34" charset="-122"/>
                <a:cs typeface="Montserrat" pitchFamily="34" charset="-120"/>
              </a:rPr>
              <a:t>58622-   Harshinie M</a:t>
            </a:r>
            <a:endParaRPr lang="en-US" sz="2000" dirty="0">
              <a:latin typeface="+mj-lt"/>
            </a:endParaRPr>
          </a:p>
          <a:p>
            <a:pPr marL="800100" lvl="1" indent="-457200">
              <a:lnSpc>
                <a:spcPts val="2000"/>
              </a:lnSpc>
              <a:buSzPct val="100000"/>
              <a:buFont typeface="+mj-lt"/>
              <a:buAutoNum type="arabicPeriod"/>
            </a:pPr>
            <a:r>
              <a:rPr lang="en-US" sz="2000" b="1" dirty="0">
                <a:solidFill>
                  <a:srgbClr val="67534F"/>
                </a:solidFill>
                <a:latin typeface="+mj-lt"/>
                <a:ea typeface="Montserrat" pitchFamily="34" charset="-122"/>
                <a:cs typeface="Montserrat" pitchFamily="34" charset="-120"/>
              </a:rPr>
              <a:t>58623 – Shreyash Bhatt</a:t>
            </a:r>
            <a:endParaRPr lang="en-US" sz="2000" dirty="0">
              <a:latin typeface="+mj-lt"/>
            </a:endParaRPr>
          </a:p>
          <a:p>
            <a:pPr marL="800100" lvl="1" indent="-457200">
              <a:lnSpc>
                <a:spcPts val="2000"/>
              </a:lnSpc>
              <a:buSzPct val="100000"/>
              <a:buFont typeface="+mj-lt"/>
              <a:buAutoNum type="arabicPeriod"/>
            </a:pPr>
            <a:r>
              <a:rPr lang="en-US" sz="2000" b="1" dirty="0">
                <a:solidFill>
                  <a:srgbClr val="67534F"/>
                </a:solidFill>
                <a:latin typeface="+mj-lt"/>
                <a:ea typeface="Montserrat" pitchFamily="34" charset="-122"/>
                <a:cs typeface="Montserrat" pitchFamily="34" charset="-120"/>
              </a:rPr>
              <a:t>58624 – Jayavarshini G</a:t>
            </a:r>
            <a:endParaRPr lang="en-US" sz="2000" dirty="0">
              <a:latin typeface="+mj-lt"/>
            </a:endParaRPr>
          </a:p>
          <a:p>
            <a:pPr marL="800100" lvl="1" indent="-457200">
              <a:lnSpc>
                <a:spcPts val="2000"/>
              </a:lnSpc>
              <a:buSzPct val="100000"/>
              <a:buFont typeface="+mj-lt"/>
              <a:buAutoNum type="arabicPeriod"/>
            </a:pPr>
            <a:r>
              <a:rPr lang="en-US" sz="2000" b="1" dirty="0">
                <a:solidFill>
                  <a:srgbClr val="67534F"/>
                </a:solidFill>
                <a:latin typeface="+mj-lt"/>
                <a:ea typeface="Montserrat" pitchFamily="34" charset="-122"/>
                <a:cs typeface="Montserrat" pitchFamily="34" charset="-120"/>
              </a:rPr>
              <a:t>58635 – Yuvaraj P</a:t>
            </a:r>
            <a:endParaRPr lang="en-US" sz="2000" dirty="0">
              <a:latin typeface="+mj-lt"/>
            </a:endParaRPr>
          </a:p>
          <a:p>
            <a:pPr marL="0" indent="0" algn="l">
              <a:lnSpc>
                <a:spcPts val="5300"/>
              </a:lnSpc>
              <a:buNone/>
            </a:pPr>
            <a:endParaRPr lang="en-US" sz="1600" dirty="0">
              <a:solidFill>
                <a:srgbClr val="532418"/>
              </a:solidFill>
              <a:latin typeface="+mj-lt"/>
              <a:ea typeface="Marcellus" pitchFamily="34" charset="-122"/>
              <a:cs typeface="Marcellus" pitchFamily="34" charset="-120"/>
            </a:endParaRPr>
          </a:p>
          <a:p>
            <a:pPr marL="0" indent="0" algn="l">
              <a:lnSpc>
                <a:spcPts val="5300"/>
              </a:lnSpc>
              <a:buNone/>
            </a:pPr>
            <a:endParaRPr lang="en-US" sz="4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53202"/>
            <a:ext cx="10604421" cy="847725"/>
          </a:xfrm>
          <a:prstGeom prst="rect">
            <a:avLst/>
          </a:prstGeom>
          <a:noFill/>
          <a:ln/>
        </p:spPr>
        <p:txBody>
          <a:bodyPr wrap="none" lIns="0" tIns="0" rIns="0" bIns="0" rtlCol="0" anchor="t"/>
          <a:lstStyle/>
          <a:p>
            <a:pPr marL="0" indent="0" algn="l">
              <a:lnSpc>
                <a:spcPts val="6650"/>
              </a:lnSpc>
              <a:buNone/>
            </a:pPr>
            <a:r>
              <a:rPr lang="en-US" sz="5100" dirty="0">
                <a:solidFill>
                  <a:srgbClr val="532418"/>
                </a:solidFill>
                <a:latin typeface="Marcellus" pitchFamily="34" charset="0"/>
                <a:ea typeface="Marcellus" pitchFamily="34" charset="-122"/>
                <a:cs typeface="Marcellus" pitchFamily="34" charset="-120"/>
              </a:rPr>
              <a:t>Where RLC ARQ Fits in the 5G Stack</a:t>
            </a:r>
            <a:endParaRPr lang="en-US" sz="5100" dirty="0"/>
          </a:p>
        </p:txBody>
      </p:sp>
      <p:pic>
        <p:nvPicPr>
          <p:cNvPr id="3" name="Image 0" descr="preencoded.png"/>
          <p:cNvPicPr>
            <a:picLocks noChangeAspect="1"/>
          </p:cNvPicPr>
          <p:nvPr/>
        </p:nvPicPr>
        <p:blipFill>
          <a:blip r:embed="rId3"/>
          <a:stretch>
            <a:fillRect/>
          </a:stretch>
        </p:blipFill>
        <p:spPr>
          <a:xfrm>
            <a:off x="793790" y="2416254"/>
            <a:ext cx="8284131" cy="3791188"/>
          </a:xfrm>
          <a:prstGeom prst="rect">
            <a:avLst/>
          </a:prstGeom>
        </p:spPr>
      </p:pic>
      <p:sp>
        <p:nvSpPr>
          <p:cNvPr id="4" name="Text 1"/>
          <p:cNvSpPr/>
          <p:nvPr/>
        </p:nvSpPr>
        <p:spPr>
          <a:xfrm>
            <a:off x="6861947" y="2874367"/>
            <a:ext cx="2019858" cy="273862"/>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pitchFamily="34" charset="0"/>
                <a:ea typeface="Marcellus" pitchFamily="34" charset="-122"/>
                <a:cs typeface="Marcellus" pitchFamily="34" charset="-120"/>
              </a:rPr>
              <a:t>MAC &amp; PHY</a:t>
            </a:r>
            <a:endParaRPr lang="en-US" sz="1550" dirty="0"/>
          </a:p>
        </p:txBody>
      </p:sp>
      <p:sp>
        <p:nvSpPr>
          <p:cNvPr id="5" name="Text 2"/>
          <p:cNvSpPr/>
          <p:nvPr/>
        </p:nvSpPr>
        <p:spPr>
          <a:xfrm>
            <a:off x="6861947" y="3213386"/>
            <a:ext cx="2019858" cy="366506"/>
          </a:xfrm>
          <a:prstGeom prst="rect">
            <a:avLst/>
          </a:prstGeom>
          <a:noFill/>
          <a:ln/>
        </p:spPr>
        <p:txBody>
          <a:bodyPr wrap="square" lIns="0" tIns="0" rIns="0" bIns="0" rtlCol="0" anchor="t"/>
          <a:lstStyle/>
          <a:p>
            <a:pPr marL="0" indent="0" algn="l">
              <a:lnSpc>
                <a:spcPts val="1350"/>
              </a:lnSpc>
              <a:buNone/>
            </a:pPr>
            <a:r>
              <a:rPr lang="en-US" sz="1050" dirty="0">
                <a:solidFill>
                  <a:srgbClr val="67534F"/>
                </a:solidFill>
                <a:latin typeface="Montserrat" pitchFamily="34" charset="0"/>
                <a:ea typeface="Montserrat" pitchFamily="34" charset="-122"/>
                <a:cs typeface="Montserrat" pitchFamily="34" charset="-120"/>
              </a:rPr>
              <a:t>Scheduling, multiplexing, and physical transmission</a:t>
            </a:r>
            <a:endParaRPr lang="en-US" sz="1050" dirty="0"/>
          </a:p>
        </p:txBody>
      </p:sp>
      <p:sp>
        <p:nvSpPr>
          <p:cNvPr id="6" name="Text 3"/>
          <p:cNvSpPr/>
          <p:nvPr/>
        </p:nvSpPr>
        <p:spPr>
          <a:xfrm>
            <a:off x="989698" y="4028863"/>
            <a:ext cx="1856966" cy="273861"/>
          </a:xfrm>
          <a:prstGeom prst="rect">
            <a:avLst/>
          </a:prstGeom>
          <a:noFill/>
          <a:ln/>
        </p:spPr>
        <p:txBody>
          <a:bodyPr wrap="none" lIns="0" tIns="0" rIns="0" bIns="0" rtlCol="0" anchor="t"/>
          <a:lstStyle/>
          <a:p>
            <a:pPr marL="0" indent="0" algn="r">
              <a:lnSpc>
                <a:spcPts val="2000"/>
              </a:lnSpc>
              <a:buNone/>
            </a:pPr>
            <a:r>
              <a:rPr lang="en-US" sz="1550" dirty="0">
                <a:solidFill>
                  <a:srgbClr val="67534F"/>
                </a:solidFill>
                <a:latin typeface="Marcellus" pitchFamily="34" charset="0"/>
                <a:ea typeface="Marcellus" pitchFamily="34" charset="-122"/>
                <a:cs typeface="Marcellus" pitchFamily="34" charset="-120"/>
              </a:rPr>
              <a:t>RLC (ARQ)</a:t>
            </a:r>
            <a:endParaRPr lang="en-US" sz="1550" dirty="0"/>
          </a:p>
        </p:txBody>
      </p:sp>
      <p:sp>
        <p:nvSpPr>
          <p:cNvPr id="7" name="Text 4"/>
          <p:cNvSpPr/>
          <p:nvPr/>
        </p:nvSpPr>
        <p:spPr>
          <a:xfrm>
            <a:off x="989698" y="4367881"/>
            <a:ext cx="1856966" cy="549760"/>
          </a:xfrm>
          <a:prstGeom prst="rect">
            <a:avLst/>
          </a:prstGeom>
          <a:noFill/>
          <a:ln/>
        </p:spPr>
        <p:txBody>
          <a:bodyPr wrap="square" lIns="0" tIns="0" rIns="0" bIns="0" rtlCol="0" anchor="t"/>
          <a:lstStyle/>
          <a:p>
            <a:pPr marL="0" indent="0" algn="r">
              <a:lnSpc>
                <a:spcPts val="1350"/>
              </a:lnSpc>
              <a:buNone/>
            </a:pPr>
            <a:r>
              <a:rPr lang="en-US" sz="1050" dirty="0">
                <a:solidFill>
                  <a:srgbClr val="67534F"/>
                </a:solidFill>
                <a:latin typeface="Montserrat" pitchFamily="34" charset="0"/>
                <a:ea typeface="Montserrat" pitchFamily="34" charset="-122"/>
                <a:cs typeface="Montserrat" pitchFamily="34" charset="-120"/>
              </a:rPr>
              <a:t>Segmentation, reassembly, and ARQ retries</a:t>
            </a:r>
            <a:endParaRPr lang="en-US" sz="1050" dirty="0"/>
          </a:p>
        </p:txBody>
      </p:sp>
      <p:sp>
        <p:nvSpPr>
          <p:cNvPr id="8" name="Text 5"/>
          <p:cNvSpPr/>
          <p:nvPr/>
        </p:nvSpPr>
        <p:spPr>
          <a:xfrm>
            <a:off x="6861947" y="4763912"/>
            <a:ext cx="2019858" cy="273861"/>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pitchFamily="34" charset="0"/>
                <a:ea typeface="Marcellus" pitchFamily="34" charset="-122"/>
                <a:cs typeface="Marcellus" pitchFamily="34" charset="-120"/>
              </a:rPr>
              <a:t>PDCP</a:t>
            </a:r>
            <a:endParaRPr lang="en-US" sz="1550" dirty="0"/>
          </a:p>
        </p:txBody>
      </p:sp>
      <p:sp>
        <p:nvSpPr>
          <p:cNvPr id="9" name="Text 6"/>
          <p:cNvSpPr/>
          <p:nvPr/>
        </p:nvSpPr>
        <p:spPr>
          <a:xfrm>
            <a:off x="6861947" y="5102930"/>
            <a:ext cx="2019858" cy="366506"/>
          </a:xfrm>
          <a:prstGeom prst="rect">
            <a:avLst/>
          </a:prstGeom>
          <a:noFill/>
          <a:ln/>
        </p:spPr>
        <p:txBody>
          <a:bodyPr wrap="square" lIns="0" tIns="0" rIns="0" bIns="0" rtlCol="0" anchor="t"/>
          <a:lstStyle/>
          <a:p>
            <a:pPr marL="0" indent="0" algn="l">
              <a:lnSpc>
                <a:spcPts val="1350"/>
              </a:lnSpc>
              <a:buNone/>
            </a:pPr>
            <a:r>
              <a:rPr lang="en-US" sz="1050" dirty="0">
                <a:solidFill>
                  <a:srgbClr val="67534F"/>
                </a:solidFill>
                <a:latin typeface="Montserrat" pitchFamily="34" charset="0"/>
                <a:ea typeface="Montserrat" pitchFamily="34" charset="-122"/>
                <a:cs typeface="Montserrat" pitchFamily="34" charset="-120"/>
              </a:rPr>
              <a:t>Header compression and ciphering</a:t>
            </a:r>
            <a:endParaRPr lang="en-US" sz="1050" dirty="0"/>
          </a:p>
        </p:txBody>
      </p:sp>
      <p:sp>
        <p:nvSpPr>
          <p:cNvPr id="10" name="Text 7"/>
          <p:cNvSpPr/>
          <p:nvPr/>
        </p:nvSpPr>
        <p:spPr>
          <a:xfrm>
            <a:off x="793790" y="6462593"/>
            <a:ext cx="8284131"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The 5G NR protocol stack consists of multiple layers working together to ensure reliable data transmission.</a:t>
            </a:r>
            <a:endParaRPr lang="en-US" sz="1750" dirty="0"/>
          </a:p>
        </p:txBody>
      </p:sp>
      <p:sp>
        <p:nvSpPr>
          <p:cNvPr id="11" name="Shape 8"/>
          <p:cNvSpPr/>
          <p:nvPr/>
        </p:nvSpPr>
        <p:spPr>
          <a:xfrm>
            <a:off x="9475589" y="2041088"/>
            <a:ext cx="4531876" cy="5335310"/>
          </a:xfrm>
          <a:prstGeom prst="roundRect">
            <a:avLst>
              <a:gd name="adj" fmla="val 3604"/>
            </a:avLst>
          </a:prstGeom>
          <a:solidFill>
            <a:srgbClr val="FF954F">
              <a:alpha val="95000"/>
            </a:srgbClr>
          </a:solidFill>
          <a:ln/>
        </p:spPr>
        <p:txBody>
          <a:bodyPr/>
          <a:lstStyle/>
          <a:p>
            <a:endParaRPr lang="en-IN"/>
          </a:p>
        </p:txBody>
      </p:sp>
      <p:sp>
        <p:nvSpPr>
          <p:cNvPr id="12" name="Text 9"/>
          <p:cNvSpPr/>
          <p:nvPr/>
        </p:nvSpPr>
        <p:spPr>
          <a:xfrm>
            <a:off x="9702403" y="2267903"/>
            <a:ext cx="4078248" cy="1525548"/>
          </a:xfrm>
          <a:prstGeom prst="rect">
            <a:avLst/>
          </a:prstGeom>
          <a:noFill/>
          <a:ln/>
        </p:spPr>
        <p:txBody>
          <a:bodyPr wrap="square" lIns="0" tIns="0" rIns="0" bIns="0" rtlCol="0" anchor="t"/>
          <a:lstStyle/>
          <a:p>
            <a:pPr marL="0" indent="0" algn="l">
              <a:lnSpc>
                <a:spcPts val="4000"/>
              </a:lnSpc>
              <a:buNone/>
            </a:pPr>
            <a:r>
              <a:rPr lang="en-US" sz="3050" dirty="0">
                <a:solidFill>
                  <a:srgbClr val="532418"/>
                </a:solidFill>
                <a:latin typeface="Marcellus" pitchFamily="34" charset="0"/>
                <a:ea typeface="Marcellus" pitchFamily="34" charset="-122"/>
                <a:cs typeface="Marcellus" pitchFamily="34" charset="-120"/>
              </a:rPr>
              <a:t>Show protocol stack: PDCP → RLC → MAC → PHY</a:t>
            </a:r>
            <a:endParaRPr lang="en-US" sz="3050" dirty="0"/>
          </a:p>
        </p:txBody>
      </p:sp>
      <p:sp>
        <p:nvSpPr>
          <p:cNvPr id="13" name="Text 10"/>
          <p:cNvSpPr/>
          <p:nvPr/>
        </p:nvSpPr>
        <p:spPr>
          <a:xfrm>
            <a:off x="9702403" y="4020264"/>
            <a:ext cx="4078248" cy="589598"/>
          </a:xfrm>
          <a:prstGeom prst="rect">
            <a:avLst/>
          </a:prstGeom>
          <a:noFill/>
          <a:ln/>
        </p:spPr>
        <p:txBody>
          <a:bodyPr wrap="square" lIns="0" tIns="0" rIns="0" bIns="0" rtlCol="0" anchor="t"/>
          <a:lstStyle/>
          <a:p>
            <a:pPr marL="0" indent="0" algn="l">
              <a:lnSpc>
                <a:spcPts val="2300"/>
              </a:lnSpc>
              <a:buNone/>
            </a:pPr>
            <a:r>
              <a:rPr lang="en-US" sz="1750" b="1" dirty="0">
                <a:solidFill>
                  <a:srgbClr val="000000"/>
                </a:solidFill>
                <a:latin typeface="Montserrat" pitchFamily="34" charset="0"/>
                <a:ea typeface="Montserrat" pitchFamily="34" charset="-122"/>
                <a:cs typeface="Montserrat" pitchFamily="34" charset="-120"/>
              </a:rPr>
              <a:t>Explain where ARQ operates and why RLC AM is needed</a:t>
            </a:r>
            <a:endParaRPr lang="en-US" sz="1750" dirty="0"/>
          </a:p>
        </p:txBody>
      </p:sp>
      <p:sp>
        <p:nvSpPr>
          <p:cNvPr id="14" name="Text 11"/>
          <p:cNvSpPr/>
          <p:nvPr/>
        </p:nvSpPr>
        <p:spPr>
          <a:xfrm>
            <a:off x="9702403" y="4813935"/>
            <a:ext cx="4078248" cy="2358390"/>
          </a:xfrm>
          <a:prstGeom prst="rect">
            <a:avLst/>
          </a:prstGeom>
          <a:noFill/>
          <a:ln/>
        </p:spPr>
        <p:txBody>
          <a:bodyPr wrap="square" lIns="0" tIns="0" rIns="0" bIns="0" rtlCol="0" anchor="t"/>
          <a:lstStyle/>
          <a:p>
            <a:pPr marL="0" indent="0" algn="l">
              <a:lnSpc>
                <a:spcPts val="2300"/>
              </a:lnSpc>
              <a:buNone/>
            </a:pPr>
            <a:r>
              <a:rPr lang="en-US" sz="1750" dirty="0">
                <a:solidFill>
                  <a:srgbClr val="000000"/>
                </a:solidFill>
                <a:latin typeface="Montserrat" pitchFamily="34" charset="0"/>
                <a:ea typeface="Montserrat" pitchFamily="34" charset="-122"/>
                <a:cs typeface="Montserrat" pitchFamily="34" charset="-120"/>
              </a:rPr>
              <a:t>ARQ operates at the RLC layer, sitting between PDCP and MAC. RLC Acknowledged Mode (AM) is needed to provide reliable data transfer over wireless links by detecting and recovering from packet losses that occur in the unpredictable wireless channel.</a:t>
            </a:r>
            <a:endParaRPr lang="en-US" sz="1750" dirty="0"/>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90687"/>
            <a:ext cx="7358539" cy="847725"/>
          </a:xfrm>
          <a:prstGeom prst="rect">
            <a:avLst/>
          </a:prstGeom>
          <a:noFill/>
          <a:ln/>
        </p:spPr>
        <p:txBody>
          <a:bodyPr wrap="none" lIns="0" tIns="0" rIns="0" bIns="0" rtlCol="0" anchor="t"/>
          <a:lstStyle/>
          <a:p>
            <a:pPr marL="0" indent="0" algn="l">
              <a:lnSpc>
                <a:spcPts val="6650"/>
              </a:lnSpc>
              <a:buNone/>
            </a:pPr>
            <a:r>
              <a:rPr lang="en-US" sz="5100" dirty="0">
                <a:solidFill>
                  <a:srgbClr val="532418"/>
                </a:solidFill>
                <a:latin typeface="Marcellus" pitchFamily="34" charset="0"/>
                <a:ea typeface="Marcellus" pitchFamily="34" charset="-122"/>
                <a:cs typeface="Marcellus" pitchFamily="34" charset="-120"/>
              </a:rPr>
              <a:t>What is ARQ in RLC AM?</a:t>
            </a:r>
            <a:endParaRPr lang="en-US" sz="5100" dirty="0"/>
          </a:p>
        </p:txBody>
      </p:sp>
      <p:sp>
        <p:nvSpPr>
          <p:cNvPr id="3" name="Shape 1"/>
          <p:cNvSpPr/>
          <p:nvPr/>
        </p:nvSpPr>
        <p:spPr>
          <a:xfrm>
            <a:off x="793790" y="2992041"/>
            <a:ext cx="4196358" cy="3546753"/>
          </a:xfrm>
          <a:prstGeom prst="roundRect">
            <a:avLst>
              <a:gd name="adj" fmla="val 2686"/>
            </a:avLst>
          </a:prstGeom>
          <a:solidFill>
            <a:srgbClr val="FFFFF4"/>
          </a:solidFill>
          <a:ln w="22860">
            <a:solidFill>
              <a:srgbClr val="FFE0CC"/>
            </a:solidFill>
            <a:prstDash val="solid"/>
          </a:ln>
        </p:spPr>
        <p:txBody>
          <a:bodyPr/>
          <a:lstStyle/>
          <a:p>
            <a:endParaRPr lang="en-IN"/>
          </a:p>
        </p:txBody>
      </p:sp>
      <p:sp>
        <p:nvSpPr>
          <p:cNvPr id="4" name="Text 2"/>
          <p:cNvSpPr/>
          <p:nvPr/>
        </p:nvSpPr>
        <p:spPr>
          <a:xfrm>
            <a:off x="1043464" y="3241715"/>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Define ARQ</a:t>
            </a:r>
            <a:endParaRPr lang="en-US" sz="2550" dirty="0"/>
          </a:p>
        </p:txBody>
      </p:sp>
      <p:sp>
        <p:nvSpPr>
          <p:cNvPr id="5" name="Text 3"/>
          <p:cNvSpPr/>
          <p:nvPr/>
        </p:nvSpPr>
        <p:spPr>
          <a:xfrm>
            <a:off x="1043464" y="3801666"/>
            <a:ext cx="3697010" cy="2063591"/>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ARQ (Automatic Repeat Request) is a protocol mechanism that ensures reliable data delivery by detecting transmission errors and requesting retransmission of lost or corrupted packets.</a:t>
            </a:r>
            <a:endParaRPr lang="en-US" sz="1750" dirty="0"/>
          </a:p>
        </p:txBody>
      </p:sp>
      <p:sp>
        <p:nvSpPr>
          <p:cNvPr id="6" name="Shape 4"/>
          <p:cNvSpPr/>
          <p:nvPr/>
        </p:nvSpPr>
        <p:spPr>
          <a:xfrm>
            <a:off x="5216962" y="2992041"/>
            <a:ext cx="4196358" cy="3546753"/>
          </a:xfrm>
          <a:prstGeom prst="roundRect">
            <a:avLst>
              <a:gd name="adj" fmla="val 2686"/>
            </a:avLst>
          </a:prstGeom>
          <a:solidFill>
            <a:srgbClr val="FFFFF4"/>
          </a:solidFill>
          <a:ln w="22860">
            <a:solidFill>
              <a:srgbClr val="FFE0CC"/>
            </a:solidFill>
            <a:prstDash val="solid"/>
          </a:ln>
        </p:spPr>
        <p:txBody>
          <a:bodyPr/>
          <a:lstStyle/>
          <a:p>
            <a:endParaRPr lang="en-IN"/>
          </a:p>
        </p:txBody>
      </p:sp>
      <p:sp>
        <p:nvSpPr>
          <p:cNvPr id="7" name="Text 5"/>
          <p:cNvSpPr/>
          <p:nvPr/>
        </p:nvSpPr>
        <p:spPr>
          <a:xfrm>
            <a:off x="5466636" y="3241715"/>
            <a:ext cx="3697010" cy="847725"/>
          </a:xfrm>
          <a:prstGeom prst="rect">
            <a:avLst/>
          </a:prstGeom>
          <a:noFill/>
          <a:ln/>
        </p:spPr>
        <p:txBody>
          <a:bodyPr wrap="squar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Explain ACK/NACK concept</a:t>
            </a:r>
            <a:endParaRPr lang="en-US" sz="2550" dirty="0"/>
          </a:p>
        </p:txBody>
      </p:sp>
      <p:sp>
        <p:nvSpPr>
          <p:cNvPr id="8" name="Text 6"/>
          <p:cNvSpPr/>
          <p:nvPr/>
        </p:nvSpPr>
        <p:spPr>
          <a:xfrm>
            <a:off x="5466636" y="4225528"/>
            <a:ext cx="3697010" cy="2063591"/>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The receiver sends ACK (Acknowledgment) for successfully received packets and NACK (Negative Acknowledgment) for missing or corrupted packets, triggering retransmission from the sender.</a:t>
            </a:r>
            <a:endParaRPr lang="en-US" sz="1750" dirty="0"/>
          </a:p>
        </p:txBody>
      </p:sp>
      <p:sp>
        <p:nvSpPr>
          <p:cNvPr id="9" name="Shape 7"/>
          <p:cNvSpPr/>
          <p:nvPr/>
        </p:nvSpPr>
        <p:spPr>
          <a:xfrm>
            <a:off x="9640133" y="2992041"/>
            <a:ext cx="4196358" cy="3546753"/>
          </a:xfrm>
          <a:prstGeom prst="roundRect">
            <a:avLst>
              <a:gd name="adj" fmla="val 2686"/>
            </a:avLst>
          </a:prstGeom>
          <a:solidFill>
            <a:srgbClr val="FFFFF4"/>
          </a:solidFill>
          <a:ln w="22860">
            <a:solidFill>
              <a:srgbClr val="FFE0CC"/>
            </a:solidFill>
            <a:prstDash val="solid"/>
          </a:ln>
        </p:spPr>
        <p:txBody>
          <a:bodyPr/>
          <a:lstStyle/>
          <a:p>
            <a:endParaRPr lang="en-IN"/>
          </a:p>
        </p:txBody>
      </p:sp>
      <p:sp>
        <p:nvSpPr>
          <p:cNvPr id="10" name="Text 8"/>
          <p:cNvSpPr/>
          <p:nvPr/>
        </p:nvSpPr>
        <p:spPr>
          <a:xfrm>
            <a:off x="9889808" y="3241715"/>
            <a:ext cx="3697010" cy="847725"/>
          </a:xfrm>
          <a:prstGeom prst="rect">
            <a:avLst/>
          </a:prstGeom>
          <a:noFill/>
          <a:ln/>
        </p:spPr>
        <p:txBody>
          <a:bodyPr wrap="squar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Why ARQ is required over wireless links</a:t>
            </a:r>
            <a:endParaRPr lang="en-US" sz="2550" dirty="0"/>
          </a:p>
        </p:txBody>
      </p:sp>
      <p:sp>
        <p:nvSpPr>
          <p:cNvPr id="11" name="Text 9"/>
          <p:cNvSpPr/>
          <p:nvPr/>
        </p:nvSpPr>
        <p:spPr>
          <a:xfrm>
            <a:off x="9889808" y="4225528"/>
            <a:ext cx="3697010" cy="2063591"/>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Wireless channels are prone to interference, fading, and signal degradation. ARQ compensates for these impairments by ensuring that lost data is retransmitted, maintaining data integrity and reliability.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538287" y="755571"/>
            <a:ext cx="7743111" cy="625673"/>
          </a:xfrm>
          <a:prstGeom prst="rect">
            <a:avLst/>
          </a:prstGeom>
          <a:noFill/>
          <a:ln/>
        </p:spPr>
        <p:txBody>
          <a:bodyPr wrap="none" lIns="0" tIns="0" rIns="0" bIns="0" rtlCol="0" anchor="t"/>
          <a:lstStyle/>
          <a:p>
            <a:pPr marL="0" indent="0" algn="l">
              <a:lnSpc>
                <a:spcPts val="4900"/>
              </a:lnSpc>
              <a:buNone/>
            </a:pPr>
            <a:r>
              <a:rPr lang="en-US" sz="3750" dirty="0">
                <a:solidFill>
                  <a:srgbClr val="532418"/>
                </a:solidFill>
                <a:latin typeface="Marcellus" pitchFamily="34" charset="0"/>
                <a:ea typeface="Marcellus" pitchFamily="34" charset="-122"/>
                <a:cs typeface="Marcellus" pitchFamily="34" charset="-120"/>
              </a:rPr>
              <a:t>RLC AM Header Fields Used in ARQ</a:t>
            </a:r>
            <a:endParaRPr lang="en-US" sz="3750" dirty="0"/>
          </a:p>
        </p:txBody>
      </p:sp>
      <p:sp>
        <p:nvSpPr>
          <p:cNvPr id="3" name="Text 1"/>
          <p:cNvSpPr/>
          <p:nvPr/>
        </p:nvSpPr>
        <p:spPr>
          <a:xfrm>
            <a:off x="1538287" y="1628418"/>
            <a:ext cx="11553706" cy="189071"/>
          </a:xfrm>
          <a:prstGeom prst="rect">
            <a:avLst/>
          </a:prstGeom>
          <a:noFill/>
          <a:ln/>
        </p:spPr>
        <p:txBody>
          <a:bodyPr wrap="none" lIns="0" tIns="0" rIns="0" bIns="0" rtlCol="0" anchor="t"/>
          <a:lstStyle/>
          <a:p>
            <a:pPr marL="0" indent="0" algn="l">
              <a:lnSpc>
                <a:spcPts val="1450"/>
              </a:lnSpc>
              <a:buNone/>
            </a:pPr>
            <a:r>
              <a:rPr lang="en-US" sz="1300" dirty="0">
                <a:solidFill>
                  <a:srgbClr val="67534F"/>
                </a:solidFill>
                <a:latin typeface="Montserrat" pitchFamily="34" charset="0"/>
                <a:ea typeface="Montserrat" pitchFamily="34" charset="-122"/>
                <a:cs typeface="Montserrat" pitchFamily="34" charset="-120"/>
              </a:rPr>
              <a:t>The RLC AM header contains several critical fields that enable the ARQ mechanism to function effectively:</a:t>
            </a:r>
            <a:endParaRPr lang="en-US" sz="1300" dirty="0"/>
          </a:p>
        </p:txBody>
      </p:sp>
      <p:sp>
        <p:nvSpPr>
          <p:cNvPr id="4" name="Shape 2"/>
          <p:cNvSpPr/>
          <p:nvPr/>
        </p:nvSpPr>
        <p:spPr>
          <a:xfrm>
            <a:off x="1538287" y="1956435"/>
            <a:ext cx="11553706" cy="1004649"/>
          </a:xfrm>
          <a:prstGeom prst="roundRect">
            <a:avLst>
              <a:gd name="adj" fmla="val 7000"/>
            </a:avLst>
          </a:prstGeom>
          <a:solidFill>
            <a:srgbClr val="FFFFF4">
              <a:alpha val="95000"/>
            </a:srgbClr>
          </a:solidFill>
          <a:ln w="22860">
            <a:solidFill>
              <a:srgbClr val="FFE0CC"/>
            </a:solidFill>
            <a:prstDash val="solid"/>
          </a:ln>
        </p:spPr>
        <p:txBody>
          <a:bodyPr/>
          <a:lstStyle/>
          <a:p>
            <a:endParaRPr lang="en-IN"/>
          </a:p>
        </p:txBody>
      </p:sp>
      <p:sp>
        <p:nvSpPr>
          <p:cNvPr id="5" name="Shape 3"/>
          <p:cNvSpPr/>
          <p:nvPr/>
        </p:nvSpPr>
        <p:spPr>
          <a:xfrm>
            <a:off x="1561148" y="1979295"/>
            <a:ext cx="669727" cy="958929"/>
          </a:xfrm>
          <a:prstGeom prst="roundRect">
            <a:avLst>
              <a:gd name="adj" fmla="val 6405"/>
            </a:avLst>
          </a:prstGeom>
          <a:solidFill>
            <a:srgbClr val="FFFFF4"/>
          </a:solidFill>
          <a:ln/>
        </p:spPr>
        <p:txBody>
          <a:bodyPr/>
          <a:lstStyle/>
          <a:p>
            <a:endParaRPr lang="en-IN"/>
          </a:p>
        </p:txBody>
      </p:sp>
      <p:sp>
        <p:nvSpPr>
          <p:cNvPr id="6" name="Text 4"/>
          <p:cNvSpPr/>
          <p:nvPr/>
        </p:nvSpPr>
        <p:spPr>
          <a:xfrm>
            <a:off x="1762839" y="2295525"/>
            <a:ext cx="251103" cy="326469"/>
          </a:xfrm>
          <a:prstGeom prst="rect">
            <a:avLst/>
          </a:prstGeom>
          <a:noFill/>
          <a:ln/>
        </p:spPr>
        <p:txBody>
          <a:bodyPr wrap="none" lIns="0" tIns="0" rIns="0" bIns="0" rtlCol="0" anchor="t"/>
          <a:lstStyle/>
          <a:p>
            <a:pPr marL="0" indent="0" algn="l">
              <a:lnSpc>
                <a:spcPts val="1950"/>
              </a:lnSpc>
              <a:buNone/>
            </a:pPr>
            <a:r>
              <a:rPr lang="en-US" sz="1950" dirty="0">
                <a:solidFill>
                  <a:srgbClr val="67534F"/>
                </a:solidFill>
                <a:latin typeface="Marcellus" pitchFamily="34" charset="0"/>
                <a:ea typeface="Marcellus" pitchFamily="34" charset="-122"/>
                <a:cs typeface="Marcellus" pitchFamily="34" charset="-120"/>
              </a:rPr>
              <a:t>1</a:t>
            </a:r>
            <a:endParaRPr lang="en-US" sz="1950" dirty="0"/>
          </a:p>
        </p:txBody>
      </p:sp>
      <p:sp>
        <p:nvSpPr>
          <p:cNvPr id="7" name="Text 5"/>
          <p:cNvSpPr/>
          <p:nvPr/>
        </p:nvSpPr>
        <p:spPr>
          <a:xfrm>
            <a:off x="2354461" y="2146697"/>
            <a:ext cx="2504718" cy="312896"/>
          </a:xfrm>
          <a:prstGeom prst="rect">
            <a:avLst/>
          </a:prstGeom>
          <a:noFill/>
          <a:ln/>
        </p:spPr>
        <p:txBody>
          <a:bodyPr wrap="none" lIns="0" tIns="0" rIns="0" bIns="0" rtlCol="0" anchor="t"/>
          <a:lstStyle/>
          <a:p>
            <a:pPr marL="0" indent="0" algn="l">
              <a:lnSpc>
                <a:spcPts val="2450"/>
              </a:lnSpc>
              <a:buNone/>
            </a:pPr>
            <a:r>
              <a:rPr lang="en-US" sz="1850" dirty="0">
                <a:solidFill>
                  <a:srgbClr val="67534F"/>
                </a:solidFill>
                <a:latin typeface="Marcellus" pitchFamily="34" charset="0"/>
                <a:ea typeface="Marcellus" pitchFamily="34" charset="-122"/>
                <a:cs typeface="Marcellus" pitchFamily="34" charset="-120"/>
              </a:rPr>
              <a:t>SN (Sequence Number)</a:t>
            </a:r>
            <a:endParaRPr lang="en-US" sz="1850" dirty="0"/>
          </a:p>
        </p:txBody>
      </p:sp>
      <p:sp>
        <p:nvSpPr>
          <p:cNvPr id="8" name="Text 6"/>
          <p:cNvSpPr/>
          <p:nvPr/>
        </p:nvSpPr>
        <p:spPr>
          <a:xfrm>
            <a:off x="2354461" y="2533650"/>
            <a:ext cx="10547271" cy="189071"/>
          </a:xfrm>
          <a:prstGeom prst="rect">
            <a:avLst/>
          </a:prstGeom>
          <a:noFill/>
          <a:ln/>
        </p:spPr>
        <p:txBody>
          <a:bodyPr wrap="none" lIns="0" tIns="0" rIns="0" bIns="0" rtlCol="0" anchor="t"/>
          <a:lstStyle/>
          <a:p>
            <a:pPr marL="0" indent="0" algn="l">
              <a:lnSpc>
                <a:spcPts val="1450"/>
              </a:lnSpc>
              <a:buNone/>
            </a:pPr>
            <a:r>
              <a:rPr lang="en-US" sz="1300" dirty="0">
                <a:solidFill>
                  <a:srgbClr val="67534F"/>
                </a:solidFill>
                <a:latin typeface="Montserrat" pitchFamily="34" charset="0"/>
                <a:ea typeface="Montserrat" pitchFamily="34" charset="-122"/>
                <a:cs typeface="Montserrat" pitchFamily="34" charset="-120"/>
              </a:rPr>
              <a:t>Uniquely identifies each RLC PDU to track transmission order and detect missing packets.</a:t>
            </a:r>
            <a:endParaRPr lang="en-US" sz="1300" dirty="0"/>
          </a:p>
        </p:txBody>
      </p:sp>
      <p:sp>
        <p:nvSpPr>
          <p:cNvPr id="9" name="Shape 7"/>
          <p:cNvSpPr/>
          <p:nvPr/>
        </p:nvSpPr>
        <p:spPr>
          <a:xfrm>
            <a:off x="1538287" y="3084671"/>
            <a:ext cx="11553706" cy="1004649"/>
          </a:xfrm>
          <a:prstGeom prst="roundRect">
            <a:avLst>
              <a:gd name="adj" fmla="val 7000"/>
            </a:avLst>
          </a:prstGeom>
          <a:solidFill>
            <a:srgbClr val="FFFFF4">
              <a:alpha val="95000"/>
            </a:srgbClr>
          </a:solidFill>
          <a:ln w="22860">
            <a:solidFill>
              <a:srgbClr val="FFE0CC"/>
            </a:solidFill>
            <a:prstDash val="solid"/>
          </a:ln>
        </p:spPr>
        <p:txBody>
          <a:bodyPr/>
          <a:lstStyle/>
          <a:p>
            <a:endParaRPr lang="en-IN"/>
          </a:p>
        </p:txBody>
      </p:sp>
      <p:sp>
        <p:nvSpPr>
          <p:cNvPr id="10" name="Shape 8"/>
          <p:cNvSpPr/>
          <p:nvPr/>
        </p:nvSpPr>
        <p:spPr>
          <a:xfrm>
            <a:off x="1561148" y="3107531"/>
            <a:ext cx="669727" cy="958929"/>
          </a:xfrm>
          <a:prstGeom prst="roundRect">
            <a:avLst>
              <a:gd name="adj" fmla="val 6405"/>
            </a:avLst>
          </a:prstGeom>
          <a:solidFill>
            <a:srgbClr val="FFFFF4"/>
          </a:solidFill>
          <a:ln/>
        </p:spPr>
        <p:txBody>
          <a:bodyPr/>
          <a:lstStyle/>
          <a:p>
            <a:endParaRPr lang="en-IN"/>
          </a:p>
        </p:txBody>
      </p:sp>
      <p:sp>
        <p:nvSpPr>
          <p:cNvPr id="11" name="Text 9"/>
          <p:cNvSpPr/>
          <p:nvPr/>
        </p:nvSpPr>
        <p:spPr>
          <a:xfrm>
            <a:off x="1762839" y="3423761"/>
            <a:ext cx="251103" cy="326469"/>
          </a:xfrm>
          <a:prstGeom prst="rect">
            <a:avLst/>
          </a:prstGeom>
          <a:noFill/>
          <a:ln/>
        </p:spPr>
        <p:txBody>
          <a:bodyPr wrap="none" lIns="0" tIns="0" rIns="0" bIns="0" rtlCol="0" anchor="t"/>
          <a:lstStyle/>
          <a:p>
            <a:pPr marL="0" indent="0" algn="l">
              <a:lnSpc>
                <a:spcPts val="1950"/>
              </a:lnSpc>
              <a:buNone/>
            </a:pPr>
            <a:r>
              <a:rPr lang="en-US" sz="1950" dirty="0">
                <a:solidFill>
                  <a:srgbClr val="67534F"/>
                </a:solidFill>
                <a:latin typeface="Marcellus" pitchFamily="34" charset="0"/>
                <a:ea typeface="Marcellus" pitchFamily="34" charset="-122"/>
                <a:cs typeface="Marcellus" pitchFamily="34" charset="-120"/>
              </a:rPr>
              <a:t>2</a:t>
            </a:r>
            <a:endParaRPr lang="en-US" sz="1950" dirty="0"/>
          </a:p>
        </p:txBody>
      </p:sp>
      <p:sp>
        <p:nvSpPr>
          <p:cNvPr id="12" name="Text 10"/>
          <p:cNvSpPr/>
          <p:nvPr/>
        </p:nvSpPr>
        <p:spPr>
          <a:xfrm>
            <a:off x="2354461" y="3274933"/>
            <a:ext cx="2406968" cy="312896"/>
          </a:xfrm>
          <a:prstGeom prst="rect">
            <a:avLst/>
          </a:prstGeom>
          <a:noFill/>
          <a:ln/>
        </p:spPr>
        <p:txBody>
          <a:bodyPr wrap="none" lIns="0" tIns="0" rIns="0" bIns="0" rtlCol="0" anchor="t"/>
          <a:lstStyle/>
          <a:p>
            <a:pPr marL="0" indent="0" algn="l">
              <a:lnSpc>
                <a:spcPts val="2450"/>
              </a:lnSpc>
              <a:buNone/>
            </a:pPr>
            <a:r>
              <a:rPr lang="en-US" sz="1850" dirty="0">
                <a:solidFill>
                  <a:srgbClr val="67534F"/>
                </a:solidFill>
                <a:latin typeface="Marcellus" pitchFamily="34" charset="0"/>
                <a:ea typeface="Marcellus" pitchFamily="34" charset="-122"/>
                <a:cs typeface="Marcellus" pitchFamily="34" charset="-120"/>
              </a:rPr>
              <a:t>P-bit (Poll)</a:t>
            </a:r>
            <a:endParaRPr lang="en-US" sz="1850" dirty="0"/>
          </a:p>
        </p:txBody>
      </p:sp>
      <p:sp>
        <p:nvSpPr>
          <p:cNvPr id="13" name="Text 11"/>
          <p:cNvSpPr/>
          <p:nvPr/>
        </p:nvSpPr>
        <p:spPr>
          <a:xfrm>
            <a:off x="2354461" y="3661886"/>
            <a:ext cx="10547271" cy="189071"/>
          </a:xfrm>
          <a:prstGeom prst="rect">
            <a:avLst/>
          </a:prstGeom>
          <a:noFill/>
          <a:ln/>
        </p:spPr>
        <p:txBody>
          <a:bodyPr wrap="none" lIns="0" tIns="0" rIns="0" bIns="0" rtlCol="0" anchor="t"/>
          <a:lstStyle/>
          <a:p>
            <a:pPr marL="0" indent="0" algn="l">
              <a:lnSpc>
                <a:spcPts val="1450"/>
              </a:lnSpc>
              <a:buNone/>
            </a:pPr>
            <a:r>
              <a:rPr lang="en-US" sz="1300" dirty="0">
                <a:solidFill>
                  <a:srgbClr val="67534F"/>
                </a:solidFill>
                <a:latin typeface="Montserrat" pitchFamily="34" charset="0"/>
                <a:ea typeface="Montserrat" pitchFamily="34" charset="-122"/>
                <a:cs typeface="Montserrat" pitchFamily="34" charset="-120"/>
              </a:rPr>
              <a:t>Requests the receiver to send a STATUS report, allowing the transmitter to learn about reception status.</a:t>
            </a:r>
            <a:endParaRPr lang="en-US" sz="1300" dirty="0"/>
          </a:p>
        </p:txBody>
      </p:sp>
      <p:sp>
        <p:nvSpPr>
          <p:cNvPr id="14" name="Shape 12"/>
          <p:cNvSpPr/>
          <p:nvPr/>
        </p:nvSpPr>
        <p:spPr>
          <a:xfrm>
            <a:off x="1538287" y="4212907"/>
            <a:ext cx="11553706" cy="1004649"/>
          </a:xfrm>
          <a:prstGeom prst="roundRect">
            <a:avLst>
              <a:gd name="adj" fmla="val 7000"/>
            </a:avLst>
          </a:prstGeom>
          <a:solidFill>
            <a:srgbClr val="FFFFF4">
              <a:alpha val="95000"/>
            </a:srgbClr>
          </a:solidFill>
          <a:ln w="22860">
            <a:solidFill>
              <a:srgbClr val="FFE0CC"/>
            </a:solidFill>
            <a:prstDash val="solid"/>
          </a:ln>
        </p:spPr>
        <p:txBody>
          <a:bodyPr/>
          <a:lstStyle/>
          <a:p>
            <a:endParaRPr lang="en-IN"/>
          </a:p>
        </p:txBody>
      </p:sp>
      <p:sp>
        <p:nvSpPr>
          <p:cNvPr id="15" name="Shape 13"/>
          <p:cNvSpPr/>
          <p:nvPr/>
        </p:nvSpPr>
        <p:spPr>
          <a:xfrm>
            <a:off x="1561148" y="4235767"/>
            <a:ext cx="669727" cy="958929"/>
          </a:xfrm>
          <a:prstGeom prst="roundRect">
            <a:avLst>
              <a:gd name="adj" fmla="val 6405"/>
            </a:avLst>
          </a:prstGeom>
          <a:solidFill>
            <a:srgbClr val="FFFFF4"/>
          </a:solidFill>
          <a:ln/>
        </p:spPr>
        <p:txBody>
          <a:bodyPr/>
          <a:lstStyle/>
          <a:p>
            <a:endParaRPr lang="en-IN"/>
          </a:p>
        </p:txBody>
      </p:sp>
      <p:sp>
        <p:nvSpPr>
          <p:cNvPr id="16" name="Text 14"/>
          <p:cNvSpPr/>
          <p:nvPr/>
        </p:nvSpPr>
        <p:spPr>
          <a:xfrm>
            <a:off x="1762839" y="4551998"/>
            <a:ext cx="251103" cy="326469"/>
          </a:xfrm>
          <a:prstGeom prst="rect">
            <a:avLst/>
          </a:prstGeom>
          <a:noFill/>
          <a:ln/>
        </p:spPr>
        <p:txBody>
          <a:bodyPr wrap="none" lIns="0" tIns="0" rIns="0" bIns="0" rtlCol="0" anchor="t"/>
          <a:lstStyle/>
          <a:p>
            <a:pPr marL="0" indent="0" algn="l">
              <a:lnSpc>
                <a:spcPts val="1950"/>
              </a:lnSpc>
              <a:buNone/>
            </a:pPr>
            <a:r>
              <a:rPr lang="en-US" sz="1950" dirty="0">
                <a:solidFill>
                  <a:srgbClr val="67534F"/>
                </a:solidFill>
                <a:latin typeface="Marcellus" pitchFamily="34" charset="0"/>
                <a:ea typeface="Marcellus" pitchFamily="34" charset="-122"/>
                <a:cs typeface="Marcellus" pitchFamily="34" charset="-120"/>
              </a:rPr>
              <a:t>3</a:t>
            </a:r>
            <a:endParaRPr lang="en-US" sz="1950" dirty="0"/>
          </a:p>
        </p:txBody>
      </p:sp>
      <p:sp>
        <p:nvSpPr>
          <p:cNvPr id="17" name="Text 15"/>
          <p:cNvSpPr/>
          <p:nvPr/>
        </p:nvSpPr>
        <p:spPr>
          <a:xfrm>
            <a:off x="2354461" y="4403169"/>
            <a:ext cx="2406968" cy="312896"/>
          </a:xfrm>
          <a:prstGeom prst="rect">
            <a:avLst/>
          </a:prstGeom>
          <a:noFill/>
          <a:ln/>
        </p:spPr>
        <p:txBody>
          <a:bodyPr wrap="none" lIns="0" tIns="0" rIns="0" bIns="0" rtlCol="0" anchor="t"/>
          <a:lstStyle/>
          <a:p>
            <a:pPr marL="0" indent="0" algn="l">
              <a:lnSpc>
                <a:spcPts val="2450"/>
              </a:lnSpc>
              <a:buNone/>
            </a:pPr>
            <a:r>
              <a:rPr lang="en-US" sz="1850" dirty="0">
                <a:solidFill>
                  <a:srgbClr val="67534F"/>
                </a:solidFill>
                <a:latin typeface="Marcellus" pitchFamily="34" charset="0"/>
                <a:ea typeface="Marcellus" pitchFamily="34" charset="-122"/>
                <a:cs typeface="Marcellus" pitchFamily="34" charset="-120"/>
              </a:rPr>
              <a:t>SI (Segmentation Info)</a:t>
            </a:r>
            <a:endParaRPr lang="en-US" sz="1850" dirty="0"/>
          </a:p>
        </p:txBody>
      </p:sp>
      <p:sp>
        <p:nvSpPr>
          <p:cNvPr id="18" name="Text 16"/>
          <p:cNvSpPr/>
          <p:nvPr/>
        </p:nvSpPr>
        <p:spPr>
          <a:xfrm>
            <a:off x="2354461" y="4790123"/>
            <a:ext cx="10547271" cy="189071"/>
          </a:xfrm>
          <a:prstGeom prst="rect">
            <a:avLst/>
          </a:prstGeom>
          <a:noFill/>
          <a:ln/>
        </p:spPr>
        <p:txBody>
          <a:bodyPr wrap="none" lIns="0" tIns="0" rIns="0" bIns="0" rtlCol="0" anchor="t"/>
          <a:lstStyle/>
          <a:p>
            <a:pPr marL="0" indent="0" algn="l">
              <a:lnSpc>
                <a:spcPts val="1450"/>
              </a:lnSpc>
              <a:buNone/>
            </a:pPr>
            <a:r>
              <a:rPr lang="en-US" sz="1300" dirty="0">
                <a:solidFill>
                  <a:srgbClr val="67534F"/>
                </a:solidFill>
                <a:latin typeface="Montserrat" pitchFamily="34" charset="0"/>
                <a:ea typeface="Montserrat" pitchFamily="34" charset="-122"/>
                <a:cs typeface="Montserrat" pitchFamily="34" charset="-120"/>
              </a:rPr>
              <a:t>Indicates whether the PDU is a complete SDU or a segment of a larger SDU.</a:t>
            </a:r>
            <a:endParaRPr lang="en-US" sz="1300" dirty="0"/>
          </a:p>
        </p:txBody>
      </p:sp>
      <p:sp>
        <p:nvSpPr>
          <p:cNvPr id="19" name="Shape 17"/>
          <p:cNvSpPr/>
          <p:nvPr/>
        </p:nvSpPr>
        <p:spPr>
          <a:xfrm>
            <a:off x="1538287" y="5341144"/>
            <a:ext cx="11553706" cy="1004649"/>
          </a:xfrm>
          <a:prstGeom prst="roundRect">
            <a:avLst>
              <a:gd name="adj" fmla="val 7000"/>
            </a:avLst>
          </a:prstGeom>
          <a:solidFill>
            <a:srgbClr val="FFFFF4">
              <a:alpha val="95000"/>
            </a:srgbClr>
          </a:solidFill>
          <a:ln w="22860">
            <a:solidFill>
              <a:srgbClr val="FFE0CC"/>
            </a:solidFill>
            <a:prstDash val="solid"/>
          </a:ln>
        </p:spPr>
        <p:txBody>
          <a:bodyPr/>
          <a:lstStyle/>
          <a:p>
            <a:endParaRPr lang="en-IN"/>
          </a:p>
        </p:txBody>
      </p:sp>
      <p:sp>
        <p:nvSpPr>
          <p:cNvPr id="20" name="Shape 18"/>
          <p:cNvSpPr/>
          <p:nvPr/>
        </p:nvSpPr>
        <p:spPr>
          <a:xfrm>
            <a:off x="1561148" y="5364004"/>
            <a:ext cx="669727" cy="958929"/>
          </a:xfrm>
          <a:prstGeom prst="roundRect">
            <a:avLst>
              <a:gd name="adj" fmla="val 6405"/>
            </a:avLst>
          </a:prstGeom>
          <a:solidFill>
            <a:srgbClr val="FFFFF4"/>
          </a:solidFill>
          <a:ln/>
        </p:spPr>
        <p:txBody>
          <a:bodyPr/>
          <a:lstStyle/>
          <a:p>
            <a:endParaRPr lang="en-IN"/>
          </a:p>
        </p:txBody>
      </p:sp>
      <p:sp>
        <p:nvSpPr>
          <p:cNvPr id="21" name="Text 19"/>
          <p:cNvSpPr/>
          <p:nvPr/>
        </p:nvSpPr>
        <p:spPr>
          <a:xfrm>
            <a:off x="1762839" y="5680234"/>
            <a:ext cx="251103" cy="326469"/>
          </a:xfrm>
          <a:prstGeom prst="rect">
            <a:avLst/>
          </a:prstGeom>
          <a:noFill/>
          <a:ln/>
        </p:spPr>
        <p:txBody>
          <a:bodyPr wrap="none" lIns="0" tIns="0" rIns="0" bIns="0" rtlCol="0" anchor="t"/>
          <a:lstStyle/>
          <a:p>
            <a:pPr marL="0" indent="0" algn="l">
              <a:lnSpc>
                <a:spcPts val="1950"/>
              </a:lnSpc>
              <a:buNone/>
            </a:pPr>
            <a:r>
              <a:rPr lang="en-US" sz="1950" dirty="0">
                <a:solidFill>
                  <a:srgbClr val="67534F"/>
                </a:solidFill>
                <a:latin typeface="Marcellus" pitchFamily="34" charset="0"/>
                <a:ea typeface="Marcellus" pitchFamily="34" charset="-122"/>
                <a:cs typeface="Marcellus" pitchFamily="34" charset="-120"/>
              </a:rPr>
              <a:t>4</a:t>
            </a:r>
            <a:endParaRPr lang="en-US" sz="1950" dirty="0"/>
          </a:p>
        </p:txBody>
      </p:sp>
      <p:sp>
        <p:nvSpPr>
          <p:cNvPr id="22" name="Text 20"/>
          <p:cNvSpPr/>
          <p:nvPr/>
        </p:nvSpPr>
        <p:spPr>
          <a:xfrm>
            <a:off x="2354461" y="5531406"/>
            <a:ext cx="2406968" cy="312896"/>
          </a:xfrm>
          <a:prstGeom prst="rect">
            <a:avLst/>
          </a:prstGeom>
          <a:noFill/>
          <a:ln/>
        </p:spPr>
        <p:txBody>
          <a:bodyPr wrap="none" lIns="0" tIns="0" rIns="0" bIns="0" rtlCol="0" anchor="t"/>
          <a:lstStyle/>
          <a:p>
            <a:pPr marL="0" indent="0" algn="l">
              <a:lnSpc>
                <a:spcPts val="2450"/>
              </a:lnSpc>
              <a:buNone/>
            </a:pPr>
            <a:r>
              <a:rPr lang="en-US" sz="1850" dirty="0">
                <a:solidFill>
                  <a:srgbClr val="67534F"/>
                </a:solidFill>
                <a:latin typeface="Marcellus" pitchFamily="34" charset="0"/>
                <a:ea typeface="Marcellus" pitchFamily="34" charset="-122"/>
                <a:cs typeface="Marcellus" pitchFamily="34" charset="-120"/>
              </a:rPr>
              <a:t>SO (Segment Offset)</a:t>
            </a:r>
            <a:endParaRPr lang="en-US" sz="1850" dirty="0"/>
          </a:p>
        </p:txBody>
      </p:sp>
      <p:sp>
        <p:nvSpPr>
          <p:cNvPr id="23" name="Text 21"/>
          <p:cNvSpPr/>
          <p:nvPr/>
        </p:nvSpPr>
        <p:spPr>
          <a:xfrm>
            <a:off x="2354461" y="5918359"/>
            <a:ext cx="10547271" cy="189071"/>
          </a:xfrm>
          <a:prstGeom prst="rect">
            <a:avLst/>
          </a:prstGeom>
          <a:noFill/>
          <a:ln/>
        </p:spPr>
        <p:txBody>
          <a:bodyPr wrap="none" lIns="0" tIns="0" rIns="0" bIns="0" rtlCol="0" anchor="t"/>
          <a:lstStyle/>
          <a:p>
            <a:pPr marL="0" indent="0" algn="l">
              <a:lnSpc>
                <a:spcPts val="1450"/>
              </a:lnSpc>
              <a:buNone/>
            </a:pPr>
            <a:r>
              <a:rPr lang="en-US" sz="1300" dirty="0">
                <a:solidFill>
                  <a:srgbClr val="67534F"/>
                </a:solidFill>
                <a:latin typeface="Montserrat" pitchFamily="34" charset="0"/>
                <a:ea typeface="Montserrat" pitchFamily="34" charset="-122"/>
                <a:cs typeface="Montserrat" pitchFamily="34" charset="-120"/>
              </a:rPr>
              <a:t>Specifies the position of a segment within the original SDU when segmentation occurs.</a:t>
            </a:r>
            <a:endParaRPr lang="en-US" sz="1300" dirty="0"/>
          </a:p>
        </p:txBody>
      </p:sp>
      <p:sp>
        <p:nvSpPr>
          <p:cNvPr id="24" name="Shape 22"/>
          <p:cNvSpPr/>
          <p:nvPr/>
        </p:nvSpPr>
        <p:spPr>
          <a:xfrm>
            <a:off x="1538287" y="6469380"/>
            <a:ext cx="11553706" cy="1004649"/>
          </a:xfrm>
          <a:prstGeom prst="roundRect">
            <a:avLst>
              <a:gd name="adj" fmla="val 7000"/>
            </a:avLst>
          </a:prstGeom>
          <a:solidFill>
            <a:srgbClr val="FFFFF4">
              <a:alpha val="95000"/>
            </a:srgbClr>
          </a:solidFill>
          <a:ln w="22860">
            <a:solidFill>
              <a:srgbClr val="FFE0CC"/>
            </a:solidFill>
            <a:prstDash val="solid"/>
          </a:ln>
        </p:spPr>
        <p:txBody>
          <a:bodyPr/>
          <a:lstStyle/>
          <a:p>
            <a:endParaRPr lang="en-IN"/>
          </a:p>
        </p:txBody>
      </p:sp>
      <p:sp>
        <p:nvSpPr>
          <p:cNvPr id="25" name="Shape 23"/>
          <p:cNvSpPr/>
          <p:nvPr/>
        </p:nvSpPr>
        <p:spPr>
          <a:xfrm>
            <a:off x="1561148" y="6492240"/>
            <a:ext cx="669727" cy="958929"/>
          </a:xfrm>
          <a:prstGeom prst="roundRect">
            <a:avLst>
              <a:gd name="adj" fmla="val 6405"/>
            </a:avLst>
          </a:prstGeom>
          <a:solidFill>
            <a:srgbClr val="FFFFF4"/>
          </a:solidFill>
          <a:ln/>
        </p:spPr>
        <p:txBody>
          <a:bodyPr/>
          <a:lstStyle/>
          <a:p>
            <a:endParaRPr lang="en-IN"/>
          </a:p>
        </p:txBody>
      </p:sp>
      <p:sp>
        <p:nvSpPr>
          <p:cNvPr id="26" name="Text 24"/>
          <p:cNvSpPr/>
          <p:nvPr/>
        </p:nvSpPr>
        <p:spPr>
          <a:xfrm>
            <a:off x="1762839" y="6808470"/>
            <a:ext cx="251103" cy="326469"/>
          </a:xfrm>
          <a:prstGeom prst="rect">
            <a:avLst/>
          </a:prstGeom>
          <a:noFill/>
          <a:ln/>
        </p:spPr>
        <p:txBody>
          <a:bodyPr wrap="none" lIns="0" tIns="0" rIns="0" bIns="0" rtlCol="0" anchor="t"/>
          <a:lstStyle/>
          <a:p>
            <a:pPr marL="0" indent="0" algn="l">
              <a:lnSpc>
                <a:spcPts val="1950"/>
              </a:lnSpc>
              <a:buNone/>
            </a:pPr>
            <a:r>
              <a:rPr lang="en-US" sz="1950" dirty="0">
                <a:solidFill>
                  <a:srgbClr val="67534F"/>
                </a:solidFill>
                <a:latin typeface="Marcellus" pitchFamily="34" charset="0"/>
                <a:ea typeface="Marcellus" pitchFamily="34" charset="-122"/>
                <a:cs typeface="Marcellus" pitchFamily="34" charset="-120"/>
              </a:rPr>
              <a:t>5</a:t>
            </a:r>
            <a:endParaRPr lang="en-US" sz="1950" dirty="0"/>
          </a:p>
        </p:txBody>
      </p:sp>
      <p:sp>
        <p:nvSpPr>
          <p:cNvPr id="27" name="Text 25"/>
          <p:cNvSpPr/>
          <p:nvPr/>
        </p:nvSpPr>
        <p:spPr>
          <a:xfrm>
            <a:off x="2354461" y="6659642"/>
            <a:ext cx="2834045" cy="312896"/>
          </a:xfrm>
          <a:prstGeom prst="rect">
            <a:avLst/>
          </a:prstGeom>
          <a:noFill/>
          <a:ln/>
        </p:spPr>
        <p:txBody>
          <a:bodyPr wrap="none" lIns="0" tIns="0" rIns="0" bIns="0" rtlCol="0" anchor="t"/>
          <a:lstStyle/>
          <a:p>
            <a:pPr marL="0" indent="0" algn="l">
              <a:lnSpc>
                <a:spcPts val="2450"/>
              </a:lnSpc>
              <a:buNone/>
            </a:pPr>
            <a:r>
              <a:rPr lang="en-US" sz="1850" dirty="0">
                <a:solidFill>
                  <a:srgbClr val="67534F"/>
                </a:solidFill>
                <a:latin typeface="Marcellus" pitchFamily="34" charset="0"/>
                <a:ea typeface="Marcellus" pitchFamily="34" charset="-122"/>
                <a:cs typeface="Marcellus" pitchFamily="34" charset="-120"/>
              </a:rPr>
              <a:t>RF (Re-segmentation Flag)</a:t>
            </a:r>
            <a:endParaRPr lang="en-US" sz="1850" dirty="0"/>
          </a:p>
        </p:txBody>
      </p:sp>
      <p:sp>
        <p:nvSpPr>
          <p:cNvPr id="28" name="Text 26"/>
          <p:cNvSpPr/>
          <p:nvPr/>
        </p:nvSpPr>
        <p:spPr>
          <a:xfrm>
            <a:off x="2354461" y="7046595"/>
            <a:ext cx="10547271" cy="189071"/>
          </a:xfrm>
          <a:prstGeom prst="rect">
            <a:avLst/>
          </a:prstGeom>
          <a:noFill/>
          <a:ln/>
        </p:spPr>
        <p:txBody>
          <a:bodyPr wrap="none" lIns="0" tIns="0" rIns="0" bIns="0" rtlCol="0" anchor="t"/>
          <a:lstStyle/>
          <a:p>
            <a:pPr marL="0" indent="0" algn="l">
              <a:lnSpc>
                <a:spcPts val="1450"/>
              </a:lnSpc>
              <a:buNone/>
            </a:pPr>
            <a:r>
              <a:rPr lang="en-US" sz="1300" dirty="0">
                <a:solidFill>
                  <a:srgbClr val="67534F"/>
                </a:solidFill>
                <a:latin typeface="Montserrat" pitchFamily="34" charset="0"/>
                <a:ea typeface="Montserrat" pitchFamily="34" charset="-122"/>
                <a:cs typeface="Montserrat" pitchFamily="34" charset="-120"/>
              </a:rPr>
              <a:t>Indicates whether the PDU is a result of re-segmentation of a previously transmitted PDU.</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95519" y="686157"/>
            <a:ext cx="7389019" cy="651986"/>
          </a:xfrm>
          <a:prstGeom prst="rect">
            <a:avLst/>
          </a:prstGeom>
          <a:noFill/>
          <a:ln/>
        </p:spPr>
        <p:txBody>
          <a:bodyPr wrap="none" lIns="0" tIns="0" rIns="0" bIns="0" rtlCol="0" anchor="t"/>
          <a:lstStyle/>
          <a:p>
            <a:pPr marL="0" indent="0" algn="l">
              <a:lnSpc>
                <a:spcPts val="5100"/>
              </a:lnSpc>
              <a:buNone/>
            </a:pPr>
            <a:r>
              <a:rPr lang="en-US" sz="3900" dirty="0">
                <a:solidFill>
                  <a:srgbClr val="532418"/>
                </a:solidFill>
                <a:latin typeface="Marcellus" pitchFamily="34" charset="0"/>
                <a:ea typeface="Marcellus" pitchFamily="34" charset="-122"/>
                <a:cs typeface="Marcellus" pitchFamily="34" charset="-120"/>
              </a:rPr>
              <a:t>ARQ Process Flow (Step-by-Step)</a:t>
            </a:r>
            <a:endParaRPr lang="en-US" sz="3900" dirty="0"/>
          </a:p>
        </p:txBody>
      </p:sp>
      <p:sp>
        <p:nvSpPr>
          <p:cNvPr id="3" name="Text 1"/>
          <p:cNvSpPr/>
          <p:nvPr/>
        </p:nvSpPr>
        <p:spPr>
          <a:xfrm>
            <a:off x="1295519" y="1606510"/>
            <a:ext cx="12039243" cy="200501"/>
          </a:xfrm>
          <a:prstGeom prst="rect">
            <a:avLst/>
          </a:prstGeom>
          <a:noFill/>
          <a:ln/>
        </p:spPr>
        <p:txBody>
          <a:bodyPr wrap="none" lIns="0" tIns="0" rIns="0" bIns="0" rtlCol="0" anchor="t"/>
          <a:lstStyle/>
          <a:p>
            <a:pPr marL="0" indent="0" algn="l">
              <a:lnSpc>
                <a:spcPts val="1550"/>
              </a:lnSpc>
              <a:buNone/>
            </a:pPr>
            <a:r>
              <a:rPr lang="en-US" sz="1350" dirty="0">
                <a:solidFill>
                  <a:srgbClr val="67534F"/>
                </a:solidFill>
                <a:latin typeface="Montserrat" pitchFamily="34" charset="0"/>
                <a:ea typeface="Montserrat" pitchFamily="34" charset="-122"/>
                <a:cs typeface="Montserrat" pitchFamily="34" charset="-120"/>
              </a:rPr>
              <a:t>Visually show:</a:t>
            </a:r>
            <a:endParaRPr lang="en-US" sz="1350" dirty="0"/>
          </a:p>
        </p:txBody>
      </p:sp>
      <p:pic>
        <p:nvPicPr>
          <p:cNvPr id="4" name="Image 0" descr="preencoded.png"/>
          <p:cNvPicPr>
            <a:picLocks noChangeAspect="1"/>
          </p:cNvPicPr>
          <p:nvPr/>
        </p:nvPicPr>
        <p:blipFill>
          <a:blip r:embed="rId3"/>
          <a:stretch>
            <a:fillRect/>
          </a:stretch>
        </p:blipFill>
        <p:spPr>
          <a:xfrm>
            <a:off x="1295519" y="1957983"/>
            <a:ext cx="872371" cy="1046798"/>
          </a:xfrm>
          <a:prstGeom prst="rect">
            <a:avLst/>
          </a:prstGeom>
        </p:spPr>
      </p:pic>
      <p:sp>
        <p:nvSpPr>
          <p:cNvPr id="5" name="Text 2"/>
          <p:cNvSpPr/>
          <p:nvPr/>
        </p:nvSpPr>
        <p:spPr>
          <a:xfrm>
            <a:off x="2302073" y="2132409"/>
            <a:ext cx="3620095" cy="326112"/>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1. TX sends PDUs with SN = 0,1,2</a:t>
            </a:r>
            <a:endParaRPr lang="en-US" sz="1950" dirty="0"/>
          </a:p>
        </p:txBody>
      </p:sp>
      <p:sp>
        <p:nvSpPr>
          <p:cNvPr id="6" name="Text 3"/>
          <p:cNvSpPr/>
          <p:nvPr/>
        </p:nvSpPr>
        <p:spPr>
          <a:xfrm>
            <a:off x="2302073" y="2539008"/>
            <a:ext cx="11032688" cy="200501"/>
          </a:xfrm>
          <a:prstGeom prst="rect">
            <a:avLst/>
          </a:prstGeom>
          <a:noFill/>
          <a:ln/>
        </p:spPr>
        <p:txBody>
          <a:bodyPr wrap="none" lIns="0" tIns="0" rIns="0" bIns="0" rtlCol="0" anchor="t"/>
          <a:lstStyle/>
          <a:p>
            <a:pPr marL="0" indent="0" algn="l">
              <a:lnSpc>
                <a:spcPts val="1550"/>
              </a:lnSpc>
              <a:buNone/>
            </a:pPr>
            <a:r>
              <a:rPr lang="en-US" sz="1350" dirty="0">
                <a:solidFill>
                  <a:srgbClr val="67534F"/>
                </a:solidFill>
                <a:latin typeface="Montserrat" pitchFamily="34" charset="0"/>
                <a:ea typeface="Montserrat" pitchFamily="34" charset="-122"/>
                <a:cs typeface="Montserrat" pitchFamily="34" charset="-120"/>
              </a:rPr>
              <a:t>The transmitter sends three Protocol Data Units with sequence numbers 0, 1, and 2.</a:t>
            </a:r>
            <a:endParaRPr lang="en-US" sz="1350" dirty="0"/>
          </a:p>
        </p:txBody>
      </p:sp>
      <p:pic>
        <p:nvPicPr>
          <p:cNvPr id="7" name="Image 1" descr="preencoded.png"/>
          <p:cNvPicPr>
            <a:picLocks noChangeAspect="1"/>
          </p:cNvPicPr>
          <p:nvPr/>
        </p:nvPicPr>
        <p:blipFill>
          <a:blip r:embed="rId4"/>
          <a:stretch>
            <a:fillRect/>
          </a:stretch>
        </p:blipFill>
        <p:spPr>
          <a:xfrm>
            <a:off x="1295519" y="3004780"/>
            <a:ext cx="872371" cy="1046798"/>
          </a:xfrm>
          <a:prstGeom prst="rect">
            <a:avLst/>
          </a:prstGeom>
        </p:spPr>
      </p:pic>
      <p:sp>
        <p:nvSpPr>
          <p:cNvPr id="8" name="Text 4"/>
          <p:cNvSpPr/>
          <p:nvPr/>
        </p:nvSpPr>
        <p:spPr>
          <a:xfrm>
            <a:off x="2302073" y="3179207"/>
            <a:ext cx="3952875" cy="326112"/>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2. RX receives 0 and 2 (1 is missing)</a:t>
            </a:r>
            <a:endParaRPr lang="en-US" sz="1950" dirty="0"/>
          </a:p>
        </p:txBody>
      </p:sp>
      <p:sp>
        <p:nvSpPr>
          <p:cNvPr id="9" name="Text 5"/>
          <p:cNvSpPr/>
          <p:nvPr/>
        </p:nvSpPr>
        <p:spPr>
          <a:xfrm>
            <a:off x="2302073" y="3585805"/>
            <a:ext cx="11032688" cy="200501"/>
          </a:xfrm>
          <a:prstGeom prst="rect">
            <a:avLst/>
          </a:prstGeom>
          <a:noFill/>
          <a:ln/>
        </p:spPr>
        <p:txBody>
          <a:bodyPr wrap="none" lIns="0" tIns="0" rIns="0" bIns="0" rtlCol="0" anchor="t"/>
          <a:lstStyle/>
          <a:p>
            <a:pPr marL="0" indent="0" algn="l">
              <a:lnSpc>
                <a:spcPts val="1550"/>
              </a:lnSpc>
              <a:buNone/>
            </a:pPr>
            <a:r>
              <a:rPr lang="en-US" sz="1350" dirty="0">
                <a:solidFill>
                  <a:srgbClr val="67534F"/>
                </a:solidFill>
                <a:latin typeface="Montserrat" pitchFamily="34" charset="0"/>
                <a:ea typeface="Montserrat" pitchFamily="34" charset="-122"/>
                <a:cs typeface="Montserrat" pitchFamily="34" charset="-120"/>
              </a:rPr>
              <a:t>The receiver successfully receives PDUs with SN=0 and SN=2, but SN=1 is lost during transmission.</a:t>
            </a:r>
            <a:endParaRPr lang="en-US" sz="1350" dirty="0"/>
          </a:p>
        </p:txBody>
      </p:sp>
      <p:pic>
        <p:nvPicPr>
          <p:cNvPr id="10" name="Image 2" descr="preencoded.png"/>
          <p:cNvPicPr>
            <a:picLocks noChangeAspect="1"/>
          </p:cNvPicPr>
          <p:nvPr/>
        </p:nvPicPr>
        <p:blipFill>
          <a:blip r:embed="rId5"/>
          <a:stretch>
            <a:fillRect/>
          </a:stretch>
        </p:blipFill>
        <p:spPr>
          <a:xfrm>
            <a:off x="1295519" y="4051578"/>
            <a:ext cx="872371" cy="1046798"/>
          </a:xfrm>
          <a:prstGeom prst="rect">
            <a:avLst/>
          </a:prstGeom>
        </p:spPr>
      </p:pic>
      <p:sp>
        <p:nvSpPr>
          <p:cNvPr id="11" name="Text 6"/>
          <p:cNvSpPr/>
          <p:nvPr/>
        </p:nvSpPr>
        <p:spPr>
          <a:xfrm>
            <a:off x="2302073" y="4226004"/>
            <a:ext cx="6521291" cy="326112"/>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3. RX sends STATUS PDU with ACK_SN=3 and NACK_SN=1</a:t>
            </a:r>
            <a:endParaRPr lang="en-US" sz="1950" dirty="0"/>
          </a:p>
        </p:txBody>
      </p:sp>
      <p:sp>
        <p:nvSpPr>
          <p:cNvPr id="12" name="Text 7"/>
          <p:cNvSpPr/>
          <p:nvPr/>
        </p:nvSpPr>
        <p:spPr>
          <a:xfrm>
            <a:off x="2302073" y="4632603"/>
            <a:ext cx="11032688" cy="200501"/>
          </a:xfrm>
          <a:prstGeom prst="rect">
            <a:avLst/>
          </a:prstGeom>
          <a:noFill/>
          <a:ln/>
        </p:spPr>
        <p:txBody>
          <a:bodyPr wrap="none" lIns="0" tIns="0" rIns="0" bIns="0" rtlCol="0" anchor="t"/>
          <a:lstStyle/>
          <a:p>
            <a:pPr marL="0" indent="0" algn="l">
              <a:lnSpc>
                <a:spcPts val="1550"/>
              </a:lnSpc>
              <a:buNone/>
            </a:pPr>
            <a:r>
              <a:rPr lang="en-US" sz="1350" dirty="0">
                <a:solidFill>
                  <a:srgbClr val="67534F"/>
                </a:solidFill>
                <a:latin typeface="Montserrat" pitchFamily="34" charset="0"/>
                <a:ea typeface="Montserrat" pitchFamily="34" charset="-122"/>
                <a:cs typeface="Montserrat" pitchFamily="34" charset="-120"/>
              </a:rPr>
              <a:t>The receiver generates a STATUS report acknowledging up to SN=3 and indicating SN=1 is missing.</a:t>
            </a:r>
            <a:endParaRPr lang="en-US" sz="1350" dirty="0"/>
          </a:p>
        </p:txBody>
      </p:sp>
      <p:pic>
        <p:nvPicPr>
          <p:cNvPr id="13" name="Image 3" descr="preencoded.png"/>
          <p:cNvPicPr>
            <a:picLocks noChangeAspect="1"/>
          </p:cNvPicPr>
          <p:nvPr/>
        </p:nvPicPr>
        <p:blipFill>
          <a:blip r:embed="rId6"/>
          <a:stretch>
            <a:fillRect/>
          </a:stretch>
        </p:blipFill>
        <p:spPr>
          <a:xfrm>
            <a:off x="1295519" y="5098375"/>
            <a:ext cx="872371" cy="1046798"/>
          </a:xfrm>
          <a:prstGeom prst="rect">
            <a:avLst/>
          </a:prstGeom>
        </p:spPr>
      </p:pic>
      <p:sp>
        <p:nvSpPr>
          <p:cNvPr id="14" name="Text 8"/>
          <p:cNvSpPr/>
          <p:nvPr/>
        </p:nvSpPr>
        <p:spPr>
          <a:xfrm>
            <a:off x="2302073" y="5272802"/>
            <a:ext cx="2533412" cy="326112"/>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4. TX retransmits SN=1</a:t>
            </a:r>
            <a:endParaRPr lang="en-US" sz="1950" dirty="0"/>
          </a:p>
        </p:txBody>
      </p:sp>
      <p:sp>
        <p:nvSpPr>
          <p:cNvPr id="15" name="Text 9"/>
          <p:cNvSpPr/>
          <p:nvPr/>
        </p:nvSpPr>
        <p:spPr>
          <a:xfrm>
            <a:off x="2302073" y="5679400"/>
            <a:ext cx="11032688" cy="200501"/>
          </a:xfrm>
          <a:prstGeom prst="rect">
            <a:avLst/>
          </a:prstGeom>
          <a:noFill/>
          <a:ln/>
        </p:spPr>
        <p:txBody>
          <a:bodyPr wrap="none" lIns="0" tIns="0" rIns="0" bIns="0" rtlCol="0" anchor="t"/>
          <a:lstStyle/>
          <a:p>
            <a:pPr marL="0" indent="0" algn="l">
              <a:lnSpc>
                <a:spcPts val="1550"/>
              </a:lnSpc>
              <a:buNone/>
            </a:pPr>
            <a:r>
              <a:rPr lang="en-US" sz="1350" dirty="0">
                <a:solidFill>
                  <a:srgbClr val="67534F"/>
                </a:solidFill>
                <a:latin typeface="Montserrat" pitchFamily="34" charset="0"/>
                <a:ea typeface="Montserrat" pitchFamily="34" charset="-122"/>
                <a:cs typeface="Montserrat" pitchFamily="34" charset="-120"/>
              </a:rPr>
              <a:t>Upon receiving the STATUS report, the transmitter retransmits the missing PDU with SN=1.</a:t>
            </a:r>
            <a:endParaRPr lang="en-US" sz="1350" dirty="0"/>
          </a:p>
        </p:txBody>
      </p:sp>
      <p:pic>
        <p:nvPicPr>
          <p:cNvPr id="16" name="Image 4" descr="preencoded.png"/>
          <p:cNvPicPr>
            <a:picLocks noChangeAspect="1"/>
          </p:cNvPicPr>
          <p:nvPr/>
        </p:nvPicPr>
        <p:blipFill>
          <a:blip r:embed="rId7"/>
          <a:stretch>
            <a:fillRect/>
          </a:stretch>
        </p:blipFill>
        <p:spPr>
          <a:xfrm>
            <a:off x="1295519" y="6145173"/>
            <a:ext cx="872371" cy="1046798"/>
          </a:xfrm>
          <a:prstGeom prst="rect">
            <a:avLst/>
          </a:prstGeom>
        </p:spPr>
      </p:pic>
      <p:sp>
        <p:nvSpPr>
          <p:cNvPr id="17" name="Text 10"/>
          <p:cNvSpPr/>
          <p:nvPr/>
        </p:nvSpPr>
        <p:spPr>
          <a:xfrm>
            <a:off x="2302073" y="6319599"/>
            <a:ext cx="3115508" cy="326112"/>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5. RX delivers SDUs in order</a:t>
            </a:r>
            <a:endParaRPr lang="en-US" sz="1950" dirty="0"/>
          </a:p>
        </p:txBody>
      </p:sp>
      <p:sp>
        <p:nvSpPr>
          <p:cNvPr id="18" name="Text 11"/>
          <p:cNvSpPr/>
          <p:nvPr/>
        </p:nvSpPr>
        <p:spPr>
          <a:xfrm>
            <a:off x="2302073" y="6726198"/>
            <a:ext cx="11032688" cy="200501"/>
          </a:xfrm>
          <a:prstGeom prst="rect">
            <a:avLst/>
          </a:prstGeom>
          <a:noFill/>
          <a:ln/>
        </p:spPr>
        <p:txBody>
          <a:bodyPr wrap="none" lIns="0" tIns="0" rIns="0" bIns="0" rtlCol="0" anchor="t"/>
          <a:lstStyle/>
          <a:p>
            <a:pPr marL="0" indent="0" algn="l">
              <a:lnSpc>
                <a:spcPts val="1550"/>
              </a:lnSpc>
              <a:buNone/>
            </a:pPr>
            <a:r>
              <a:rPr lang="en-US" sz="1350" dirty="0">
                <a:solidFill>
                  <a:srgbClr val="67534F"/>
                </a:solidFill>
                <a:latin typeface="Montserrat" pitchFamily="34" charset="0"/>
                <a:ea typeface="Montserrat" pitchFamily="34" charset="-122"/>
                <a:cs typeface="Montserrat" pitchFamily="34" charset="-120"/>
              </a:rPr>
              <a:t>After receiving the retransmitted PDU, the receiver can now deliver all SDUs to upper layers in correct sequence.</a:t>
            </a:r>
            <a:endParaRPr lang="en-US" sz="1350" dirty="0"/>
          </a:p>
        </p:txBody>
      </p:sp>
      <p:sp>
        <p:nvSpPr>
          <p:cNvPr id="19" name="Text 12"/>
          <p:cNvSpPr/>
          <p:nvPr/>
        </p:nvSpPr>
        <p:spPr>
          <a:xfrm>
            <a:off x="1295519" y="7342942"/>
            <a:ext cx="12039243" cy="200501"/>
          </a:xfrm>
          <a:prstGeom prst="rect">
            <a:avLst/>
          </a:prstGeom>
          <a:noFill/>
          <a:ln/>
        </p:spPr>
        <p:txBody>
          <a:bodyPr wrap="none" lIns="0" tIns="0" rIns="0" bIns="0" rtlCol="0" anchor="t"/>
          <a:lstStyle/>
          <a:p>
            <a:pPr marL="0" indent="0" algn="l">
              <a:lnSpc>
                <a:spcPts val="1550"/>
              </a:lnSpc>
              <a:buNone/>
            </a:pP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3425" y="958334"/>
            <a:ext cx="10142101" cy="783193"/>
          </a:xfrm>
          <a:prstGeom prst="rect">
            <a:avLst/>
          </a:prstGeom>
          <a:noFill/>
          <a:ln/>
        </p:spPr>
        <p:txBody>
          <a:bodyPr wrap="none" lIns="0" tIns="0" rIns="0" bIns="0" rtlCol="0" anchor="t"/>
          <a:lstStyle/>
          <a:p>
            <a:pPr marL="0" indent="0" algn="l">
              <a:lnSpc>
                <a:spcPts val="6150"/>
              </a:lnSpc>
              <a:buNone/>
            </a:pPr>
            <a:r>
              <a:rPr lang="en-US" sz="4700" dirty="0">
                <a:solidFill>
                  <a:srgbClr val="532418"/>
                </a:solidFill>
                <a:latin typeface="Marcellus" pitchFamily="34" charset="0"/>
                <a:ea typeface="Marcellus" pitchFamily="34" charset="-122"/>
                <a:cs typeface="Marcellus" pitchFamily="34" charset="-120"/>
              </a:rPr>
              <a:t>Sliding Window &amp; Polling Mechanism</a:t>
            </a:r>
            <a:endParaRPr lang="en-US" sz="4700" dirty="0"/>
          </a:p>
        </p:txBody>
      </p:sp>
      <p:sp>
        <p:nvSpPr>
          <p:cNvPr id="3" name="Text 1"/>
          <p:cNvSpPr/>
          <p:nvPr/>
        </p:nvSpPr>
        <p:spPr>
          <a:xfrm>
            <a:off x="733425" y="2225516"/>
            <a:ext cx="3722251" cy="469821"/>
          </a:xfrm>
          <a:prstGeom prst="rect">
            <a:avLst/>
          </a:prstGeom>
          <a:noFill/>
          <a:ln/>
        </p:spPr>
        <p:txBody>
          <a:bodyPr wrap="none" lIns="0" tIns="0" rIns="0" bIns="0" rtlCol="0" anchor="t"/>
          <a:lstStyle/>
          <a:p>
            <a:pPr marL="0" indent="0" algn="l">
              <a:lnSpc>
                <a:spcPts val="3700"/>
              </a:lnSpc>
              <a:buNone/>
            </a:pPr>
            <a:r>
              <a:rPr lang="en-US" sz="2800" dirty="0">
                <a:solidFill>
                  <a:srgbClr val="532418"/>
                </a:solidFill>
                <a:latin typeface="Marcellus" pitchFamily="34" charset="0"/>
                <a:ea typeface="Marcellus" pitchFamily="34" charset="-122"/>
                <a:cs typeface="Marcellus" pitchFamily="34" charset="-120"/>
              </a:rPr>
              <a:t>TX/RX window</a:t>
            </a:r>
            <a:endParaRPr lang="en-US" sz="2800" dirty="0"/>
          </a:p>
        </p:txBody>
      </p:sp>
      <p:sp>
        <p:nvSpPr>
          <p:cNvPr id="4" name="Text 2"/>
          <p:cNvSpPr/>
          <p:nvPr/>
        </p:nvSpPr>
        <p:spPr>
          <a:xfrm>
            <a:off x="733425" y="2888933"/>
            <a:ext cx="6326148" cy="1833563"/>
          </a:xfrm>
          <a:prstGeom prst="rect">
            <a:avLst/>
          </a:prstGeom>
          <a:noFill/>
          <a:ln/>
        </p:spPr>
        <p:txBody>
          <a:bodyPr wrap="square" lIns="0" tIns="0" rIns="0" bIns="0" rtlCol="0" anchor="t"/>
          <a:lstStyle/>
          <a:p>
            <a:pPr marL="0" indent="0" algn="l">
              <a:lnSpc>
                <a:spcPts val="2050"/>
              </a:lnSpc>
              <a:buNone/>
            </a:pPr>
            <a:r>
              <a:rPr lang="en-US" sz="1650" dirty="0">
                <a:solidFill>
                  <a:srgbClr val="67534F"/>
                </a:solidFill>
                <a:latin typeface="Montserrat" pitchFamily="34" charset="0"/>
                <a:ea typeface="Montserrat" pitchFamily="34" charset="-122"/>
                <a:cs typeface="Montserrat" pitchFamily="34" charset="-120"/>
              </a:rPr>
              <a:t>The transmitter maintains a transmission window that defines the range of sequence numbers it can send without receiving acknowledgment. The receiver maintains a reception window that defines the range of sequence numbers it expects to receive. These sliding windows move forward as PDUs are acknowledged, enabling continuous data flow while maintaining order.</a:t>
            </a:r>
            <a:endParaRPr lang="en-US" sz="1650" dirty="0"/>
          </a:p>
        </p:txBody>
      </p:sp>
      <p:sp>
        <p:nvSpPr>
          <p:cNvPr id="5" name="Text 3"/>
          <p:cNvSpPr/>
          <p:nvPr/>
        </p:nvSpPr>
        <p:spPr>
          <a:xfrm>
            <a:off x="733425" y="4713323"/>
            <a:ext cx="6326148" cy="939641"/>
          </a:xfrm>
          <a:prstGeom prst="rect">
            <a:avLst/>
          </a:prstGeom>
          <a:noFill/>
          <a:ln/>
        </p:spPr>
        <p:txBody>
          <a:bodyPr wrap="square" lIns="0" tIns="0" rIns="0" bIns="0" rtlCol="0" anchor="t"/>
          <a:lstStyle/>
          <a:p>
            <a:pPr marL="0" indent="0" algn="l">
              <a:lnSpc>
                <a:spcPts val="3700"/>
              </a:lnSpc>
              <a:buNone/>
            </a:pPr>
            <a:r>
              <a:rPr lang="en-US" sz="2800" dirty="0">
                <a:solidFill>
                  <a:srgbClr val="532418"/>
                </a:solidFill>
                <a:latin typeface="Marcellus" pitchFamily="34" charset="0"/>
                <a:ea typeface="Marcellus" pitchFamily="34" charset="-122"/>
                <a:cs typeface="Marcellus" pitchFamily="34" charset="-120"/>
              </a:rPr>
              <a:t>P-bit and t-PollRetransmit timer</a:t>
            </a:r>
            <a:endParaRPr lang="en-US" sz="2800" dirty="0"/>
          </a:p>
        </p:txBody>
      </p:sp>
      <p:sp>
        <p:nvSpPr>
          <p:cNvPr id="6" name="Text 4"/>
          <p:cNvSpPr/>
          <p:nvPr/>
        </p:nvSpPr>
        <p:spPr>
          <a:xfrm>
            <a:off x="733425" y="5846560"/>
            <a:ext cx="6326148" cy="1047750"/>
          </a:xfrm>
          <a:prstGeom prst="rect">
            <a:avLst/>
          </a:prstGeom>
          <a:noFill/>
          <a:ln/>
        </p:spPr>
        <p:txBody>
          <a:bodyPr wrap="square" lIns="0" tIns="0" rIns="0" bIns="0" rtlCol="0" anchor="t"/>
          <a:lstStyle/>
          <a:p>
            <a:pPr marL="0" indent="0" algn="l">
              <a:lnSpc>
                <a:spcPts val="2050"/>
              </a:lnSpc>
              <a:buNone/>
            </a:pPr>
            <a:r>
              <a:rPr lang="en-US" sz="1650" dirty="0">
                <a:solidFill>
                  <a:srgbClr val="67534F"/>
                </a:solidFill>
                <a:latin typeface="Montserrat" pitchFamily="34" charset="0"/>
                <a:ea typeface="Montserrat" pitchFamily="34" charset="-122"/>
                <a:cs typeface="Montserrat" pitchFamily="34" charset="-120"/>
              </a:rPr>
              <a:t>The P-bit (Poll bit) is set by the transmitter to request a STATUS report from the receiver. The t-PollRetransmit timer is started when a poll is sent and triggers retransmission if no STATUS report is received before timeout.</a:t>
            </a:r>
            <a:endParaRPr lang="en-US" sz="1650" dirty="0"/>
          </a:p>
        </p:txBody>
      </p:sp>
      <p:sp>
        <p:nvSpPr>
          <p:cNvPr id="7" name="Shape 5"/>
          <p:cNvSpPr/>
          <p:nvPr/>
        </p:nvSpPr>
        <p:spPr>
          <a:xfrm>
            <a:off x="7427595" y="2031921"/>
            <a:ext cx="6627852" cy="5239345"/>
          </a:xfrm>
          <a:prstGeom prst="roundRect">
            <a:avLst>
              <a:gd name="adj" fmla="val 2880"/>
            </a:avLst>
          </a:prstGeom>
          <a:solidFill>
            <a:srgbClr val="FAF1DC">
              <a:alpha val="95000"/>
            </a:srgbClr>
          </a:solidFill>
          <a:ln/>
        </p:spPr>
        <p:txBody>
          <a:bodyPr/>
          <a:lstStyle/>
          <a:p>
            <a:endParaRPr lang="en-IN"/>
          </a:p>
        </p:txBody>
      </p:sp>
      <p:sp>
        <p:nvSpPr>
          <p:cNvPr id="8" name="Text 6"/>
          <p:cNvSpPr/>
          <p:nvPr/>
        </p:nvSpPr>
        <p:spPr>
          <a:xfrm>
            <a:off x="7637145" y="2225516"/>
            <a:ext cx="5123021" cy="469821"/>
          </a:xfrm>
          <a:prstGeom prst="rect">
            <a:avLst/>
          </a:prstGeom>
          <a:noFill/>
          <a:ln/>
        </p:spPr>
        <p:txBody>
          <a:bodyPr wrap="none" lIns="0" tIns="0" rIns="0" bIns="0" rtlCol="0" anchor="t"/>
          <a:lstStyle/>
          <a:p>
            <a:pPr marL="0" indent="0" algn="l">
              <a:lnSpc>
                <a:spcPts val="3700"/>
              </a:lnSpc>
              <a:buNone/>
            </a:pPr>
            <a:r>
              <a:rPr lang="en-US" sz="2800" dirty="0">
                <a:solidFill>
                  <a:srgbClr val="532418"/>
                </a:solidFill>
                <a:latin typeface="Marcellus" pitchFamily="34" charset="0"/>
                <a:ea typeface="Marcellus" pitchFamily="34" charset="-122"/>
                <a:cs typeface="Marcellus" pitchFamily="34" charset="-120"/>
              </a:rPr>
              <a:t>When and why polling happens</a:t>
            </a:r>
            <a:endParaRPr lang="en-US" sz="2800" dirty="0"/>
          </a:p>
        </p:txBody>
      </p:sp>
      <p:sp>
        <p:nvSpPr>
          <p:cNvPr id="9" name="Text 7"/>
          <p:cNvSpPr/>
          <p:nvPr/>
        </p:nvSpPr>
        <p:spPr>
          <a:xfrm>
            <a:off x="7637145" y="2888933"/>
            <a:ext cx="6208752" cy="261937"/>
          </a:xfrm>
          <a:prstGeom prst="rect">
            <a:avLst/>
          </a:prstGeom>
          <a:noFill/>
          <a:ln/>
        </p:spPr>
        <p:txBody>
          <a:bodyPr wrap="none" lIns="0" tIns="0" rIns="0" bIns="0" rtlCol="0" anchor="t"/>
          <a:lstStyle/>
          <a:p>
            <a:pPr marL="0" indent="0" algn="l">
              <a:lnSpc>
                <a:spcPts val="2050"/>
              </a:lnSpc>
              <a:buNone/>
            </a:pPr>
            <a:r>
              <a:rPr lang="en-US" sz="1650" b="1" dirty="0">
                <a:solidFill>
                  <a:srgbClr val="532418"/>
                </a:solidFill>
                <a:latin typeface="Montserrat" pitchFamily="34" charset="0"/>
                <a:ea typeface="Montserrat" pitchFamily="34" charset="-122"/>
                <a:cs typeface="Montserrat" pitchFamily="34" charset="-120"/>
              </a:rPr>
              <a:t>Polling occurs in several scenarios:</a:t>
            </a:r>
            <a:endParaRPr lang="en-US" sz="1650" dirty="0"/>
          </a:p>
        </p:txBody>
      </p:sp>
      <p:sp>
        <p:nvSpPr>
          <p:cNvPr id="10" name="Text 8"/>
          <p:cNvSpPr/>
          <p:nvPr/>
        </p:nvSpPr>
        <p:spPr>
          <a:xfrm>
            <a:off x="7637145" y="3325058"/>
            <a:ext cx="6208752" cy="1048222"/>
          </a:xfrm>
          <a:prstGeom prst="rect">
            <a:avLst/>
          </a:prstGeom>
          <a:noFill/>
          <a:ln/>
        </p:spPr>
        <p:txBody>
          <a:bodyPr wrap="square" lIns="0" tIns="0" rIns="0" bIns="0" rtlCol="0" anchor="t"/>
          <a:lstStyle/>
          <a:p>
            <a:pPr marL="342900" indent="-342900" algn="l">
              <a:lnSpc>
                <a:spcPts val="2050"/>
              </a:lnSpc>
              <a:buSzPct val="100000"/>
              <a:buChar char="•"/>
            </a:pPr>
            <a:r>
              <a:rPr lang="en-US" sz="1650" dirty="0">
                <a:solidFill>
                  <a:srgbClr val="67534F"/>
                </a:solidFill>
                <a:latin typeface="Montserrat" pitchFamily="34" charset="0"/>
                <a:ea typeface="Montserrat" pitchFamily="34" charset="-122"/>
                <a:cs typeface="Montserrat" pitchFamily="34" charset="-120"/>
              </a:rPr>
              <a:t>When the transmission window is about to stall</a:t>
            </a:r>
            <a:endParaRPr lang="en-US" sz="1650" dirty="0"/>
          </a:p>
          <a:p>
            <a:pPr marL="342900" indent="-342900" algn="l">
              <a:lnSpc>
                <a:spcPts val="2050"/>
              </a:lnSpc>
              <a:buSzPct val="100000"/>
              <a:buChar char="•"/>
            </a:pPr>
            <a:r>
              <a:rPr lang="en-US" sz="1650" dirty="0">
                <a:solidFill>
                  <a:srgbClr val="67534F"/>
                </a:solidFill>
                <a:latin typeface="Montserrat" pitchFamily="34" charset="0"/>
                <a:ea typeface="Montserrat" pitchFamily="34" charset="-122"/>
                <a:cs typeface="Montserrat" pitchFamily="34" charset="-120"/>
              </a:rPr>
              <a:t>After transmitting a certain number of PDUs</a:t>
            </a:r>
            <a:endParaRPr lang="en-US" sz="1650" dirty="0"/>
          </a:p>
          <a:p>
            <a:pPr marL="342900" indent="-342900" algn="l">
              <a:lnSpc>
                <a:spcPts val="2050"/>
              </a:lnSpc>
              <a:buSzPct val="100000"/>
              <a:buChar char="•"/>
            </a:pPr>
            <a:r>
              <a:rPr lang="en-US" sz="1650" dirty="0">
                <a:solidFill>
                  <a:srgbClr val="67534F"/>
                </a:solidFill>
                <a:latin typeface="Montserrat" pitchFamily="34" charset="0"/>
                <a:ea typeface="Montserrat" pitchFamily="34" charset="-122"/>
                <a:cs typeface="Montserrat" pitchFamily="34" charset="-120"/>
              </a:rPr>
              <a:t>When retransmission buffer reaches a threshold</a:t>
            </a:r>
            <a:endParaRPr lang="en-US" sz="1650" dirty="0"/>
          </a:p>
          <a:p>
            <a:pPr marL="342900" indent="-342900" algn="l">
              <a:lnSpc>
                <a:spcPts val="2050"/>
              </a:lnSpc>
              <a:buSzPct val="100000"/>
              <a:buChar char="•"/>
            </a:pPr>
            <a:r>
              <a:rPr lang="en-US" sz="1650" dirty="0">
                <a:solidFill>
                  <a:srgbClr val="67534F"/>
                </a:solidFill>
                <a:latin typeface="Montserrat" pitchFamily="34" charset="0"/>
                <a:ea typeface="Montserrat" pitchFamily="34" charset="-122"/>
                <a:cs typeface="Montserrat" pitchFamily="34" charset="-120"/>
              </a:rPr>
              <a:t>Periodically to ensure receiver status is known</a:t>
            </a:r>
            <a:endParaRPr lang="en-US" sz="1650" dirty="0"/>
          </a:p>
        </p:txBody>
      </p:sp>
      <p:sp>
        <p:nvSpPr>
          <p:cNvPr id="11" name="Text 9"/>
          <p:cNvSpPr/>
          <p:nvPr/>
        </p:nvSpPr>
        <p:spPr>
          <a:xfrm>
            <a:off x="7637145" y="4547469"/>
            <a:ext cx="6208752" cy="785813"/>
          </a:xfrm>
          <a:prstGeom prst="rect">
            <a:avLst/>
          </a:prstGeom>
          <a:noFill/>
          <a:ln/>
        </p:spPr>
        <p:txBody>
          <a:bodyPr wrap="square" lIns="0" tIns="0" rIns="0" bIns="0" rtlCol="0" anchor="t"/>
          <a:lstStyle/>
          <a:p>
            <a:pPr marL="0" indent="0" algn="l">
              <a:lnSpc>
                <a:spcPts val="2050"/>
              </a:lnSpc>
              <a:buNone/>
            </a:pPr>
            <a:r>
              <a:rPr lang="en-US" sz="1650" dirty="0">
                <a:solidFill>
                  <a:srgbClr val="67534F"/>
                </a:solidFill>
                <a:latin typeface="Montserrat" pitchFamily="34" charset="0"/>
                <a:ea typeface="Montserrat" pitchFamily="34" charset="-122"/>
                <a:cs typeface="Montserrat" pitchFamily="34" charset="-120"/>
              </a:rPr>
              <a:t>Polling ensures the transmitter receives timely feedback about reception status, preventing deadlock and enabling efficient retransmission.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95482"/>
            <a:ext cx="10271998" cy="847725"/>
          </a:xfrm>
          <a:prstGeom prst="rect">
            <a:avLst/>
          </a:prstGeom>
          <a:noFill/>
          <a:ln/>
        </p:spPr>
        <p:txBody>
          <a:bodyPr wrap="none" lIns="0" tIns="0" rIns="0" bIns="0" rtlCol="0" anchor="t"/>
          <a:lstStyle/>
          <a:p>
            <a:pPr marL="0" indent="0" algn="l">
              <a:lnSpc>
                <a:spcPts val="6650"/>
              </a:lnSpc>
              <a:buNone/>
            </a:pPr>
            <a:r>
              <a:rPr lang="en-US" sz="5100" dirty="0">
                <a:solidFill>
                  <a:srgbClr val="532418"/>
                </a:solidFill>
                <a:latin typeface="Marcellus" pitchFamily="34" charset="0"/>
                <a:ea typeface="Marcellus" pitchFamily="34" charset="-122"/>
                <a:cs typeface="Marcellus" pitchFamily="34" charset="-120"/>
              </a:rPr>
              <a:t>Retransmission &amp; Re-Segmentation</a:t>
            </a:r>
            <a:endParaRPr lang="en-US" sz="5100" dirty="0"/>
          </a:p>
        </p:txBody>
      </p:sp>
      <p:sp>
        <p:nvSpPr>
          <p:cNvPr id="3" name="Text 1"/>
          <p:cNvSpPr/>
          <p:nvPr/>
        </p:nvSpPr>
        <p:spPr>
          <a:xfrm>
            <a:off x="793790" y="2296835"/>
            <a:ext cx="226814"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arcellus Light" pitchFamily="34" charset="0"/>
                <a:ea typeface="Marcellus Light" pitchFamily="34" charset="-122"/>
                <a:cs typeface="Marcellus Light" pitchFamily="34" charset="-120"/>
              </a:rPr>
              <a:t>01</a:t>
            </a:r>
            <a:endParaRPr lang="en-US" sz="1750" dirty="0"/>
          </a:p>
        </p:txBody>
      </p:sp>
      <p:sp>
        <p:nvSpPr>
          <p:cNvPr id="4" name="Shape 2"/>
          <p:cNvSpPr/>
          <p:nvPr/>
        </p:nvSpPr>
        <p:spPr>
          <a:xfrm>
            <a:off x="793790" y="2663190"/>
            <a:ext cx="4196358" cy="30480"/>
          </a:xfrm>
          <a:prstGeom prst="rect">
            <a:avLst/>
          </a:prstGeom>
          <a:solidFill>
            <a:srgbClr val="FF954F"/>
          </a:solidFill>
          <a:ln/>
        </p:spPr>
        <p:txBody>
          <a:bodyPr/>
          <a:lstStyle/>
          <a:p>
            <a:endParaRPr lang="en-IN"/>
          </a:p>
        </p:txBody>
      </p:sp>
      <p:sp>
        <p:nvSpPr>
          <p:cNvPr id="5" name="Text 3"/>
          <p:cNvSpPr/>
          <p:nvPr/>
        </p:nvSpPr>
        <p:spPr>
          <a:xfrm>
            <a:off x="793790" y="2837498"/>
            <a:ext cx="4196358" cy="847725"/>
          </a:xfrm>
          <a:prstGeom prst="rect">
            <a:avLst/>
          </a:prstGeom>
          <a:noFill/>
          <a:ln/>
        </p:spPr>
        <p:txBody>
          <a:bodyPr wrap="squar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How TX buffers PDUs</a:t>
            </a:r>
            <a:endParaRPr lang="en-US" sz="2550" dirty="0"/>
          </a:p>
        </p:txBody>
      </p:sp>
      <p:sp>
        <p:nvSpPr>
          <p:cNvPr id="6" name="Text 4"/>
          <p:cNvSpPr/>
          <p:nvPr/>
        </p:nvSpPr>
        <p:spPr>
          <a:xfrm>
            <a:off x="793790" y="3821311"/>
            <a:ext cx="4196358" cy="2653189"/>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The transmitter maintains a retransmission buffer that stores copies of all transmitted PDUs until they are acknowledged. This buffer allows the transmitter to quickly retransmit any PDU that the receiver reports as missing, without needing to reconstruct it from upper layer data.</a:t>
            </a:r>
            <a:endParaRPr lang="en-US" sz="1750" dirty="0"/>
          </a:p>
        </p:txBody>
      </p:sp>
      <p:sp>
        <p:nvSpPr>
          <p:cNvPr id="7" name="Text 5"/>
          <p:cNvSpPr/>
          <p:nvPr/>
        </p:nvSpPr>
        <p:spPr>
          <a:xfrm>
            <a:off x="5216962" y="2296835"/>
            <a:ext cx="226814"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arcellus Light" pitchFamily="34" charset="0"/>
                <a:ea typeface="Marcellus Light" pitchFamily="34" charset="-122"/>
                <a:cs typeface="Marcellus Light" pitchFamily="34" charset="-120"/>
              </a:rPr>
              <a:t>02</a:t>
            </a:r>
            <a:endParaRPr lang="en-US" sz="1750" dirty="0"/>
          </a:p>
        </p:txBody>
      </p:sp>
      <p:sp>
        <p:nvSpPr>
          <p:cNvPr id="8" name="Shape 6"/>
          <p:cNvSpPr/>
          <p:nvPr/>
        </p:nvSpPr>
        <p:spPr>
          <a:xfrm>
            <a:off x="5216962" y="2663190"/>
            <a:ext cx="4196358" cy="30480"/>
          </a:xfrm>
          <a:prstGeom prst="rect">
            <a:avLst/>
          </a:prstGeom>
          <a:solidFill>
            <a:srgbClr val="FF954F"/>
          </a:solidFill>
          <a:ln/>
        </p:spPr>
        <p:txBody>
          <a:bodyPr/>
          <a:lstStyle/>
          <a:p>
            <a:endParaRPr lang="en-IN"/>
          </a:p>
        </p:txBody>
      </p:sp>
      <p:sp>
        <p:nvSpPr>
          <p:cNvPr id="9" name="Text 7"/>
          <p:cNvSpPr/>
          <p:nvPr/>
        </p:nvSpPr>
        <p:spPr>
          <a:xfrm>
            <a:off x="5216962" y="2837498"/>
            <a:ext cx="4196358" cy="847725"/>
          </a:xfrm>
          <a:prstGeom prst="rect">
            <a:avLst/>
          </a:prstGeom>
          <a:noFill/>
          <a:ln/>
        </p:spPr>
        <p:txBody>
          <a:bodyPr wrap="squar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What happens when MAC grant is smaller</a:t>
            </a:r>
            <a:endParaRPr lang="en-US" sz="2550" dirty="0"/>
          </a:p>
        </p:txBody>
      </p:sp>
      <p:sp>
        <p:nvSpPr>
          <p:cNvPr id="10" name="Text 8"/>
          <p:cNvSpPr/>
          <p:nvPr/>
        </p:nvSpPr>
        <p:spPr>
          <a:xfrm>
            <a:off x="5216962" y="3821311"/>
            <a:ext cx="4196358" cy="2358390"/>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When the MAC layer provides a grant that is smaller than the size of the PDU to be retransmitted, the RLC layer cannot send the entire PDU in one transmission. This situation requires re-segmentation to fit the available transport block size.</a:t>
            </a:r>
            <a:endParaRPr lang="en-US" sz="1750" dirty="0"/>
          </a:p>
        </p:txBody>
      </p:sp>
      <p:sp>
        <p:nvSpPr>
          <p:cNvPr id="11" name="Text 9"/>
          <p:cNvSpPr/>
          <p:nvPr/>
        </p:nvSpPr>
        <p:spPr>
          <a:xfrm>
            <a:off x="9640133" y="2296835"/>
            <a:ext cx="226814"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arcellus Light" pitchFamily="34" charset="0"/>
                <a:ea typeface="Marcellus Light" pitchFamily="34" charset="-122"/>
                <a:cs typeface="Marcellus Light" pitchFamily="34" charset="-120"/>
              </a:rPr>
              <a:t>03</a:t>
            </a:r>
            <a:endParaRPr lang="en-US" sz="1750" dirty="0"/>
          </a:p>
        </p:txBody>
      </p:sp>
      <p:sp>
        <p:nvSpPr>
          <p:cNvPr id="12" name="Shape 10"/>
          <p:cNvSpPr/>
          <p:nvPr/>
        </p:nvSpPr>
        <p:spPr>
          <a:xfrm>
            <a:off x="9640133" y="2663190"/>
            <a:ext cx="4196358" cy="30480"/>
          </a:xfrm>
          <a:prstGeom prst="rect">
            <a:avLst/>
          </a:prstGeom>
          <a:solidFill>
            <a:srgbClr val="FF954F"/>
          </a:solidFill>
          <a:ln/>
        </p:spPr>
        <p:txBody>
          <a:bodyPr/>
          <a:lstStyle/>
          <a:p>
            <a:endParaRPr lang="en-IN"/>
          </a:p>
        </p:txBody>
      </p:sp>
      <p:sp>
        <p:nvSpPr>
          <p:cNvPr id="13" name="Text 11"/>
          <p:cNvSpPr/>
          <p:nvPr/>
        </p:nvSpPr>
        <p:spPr>
          <a:xfrm>
            <a:off x="9640133" y="2837498"/>
            <a:ext cx="4196358" cy="847725"/>
          </a:xfrm>
          <a:prstGeom prst="rect">
            <a:avLst/>
          </a:prstGeom>
          <a:noFill/>
          <a:ln/>
        </p:spPr>
        <p:txBody>
          <a:bodyPr wrap="squar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Re-segmentation using RF and SO</a:t>
            </a:r>
            <a:endParaRPr lang="en-US" sz="2550" dirty="0"/>
          </a:p>
        </p:txBody>
      </p:sp>
      <p:sp>
        <p:nvSpPr>
          <p:cNvPr id="14" name="Text 12"/>
          <p:cNvSpPr/>
          <p:nvPr/>
        </p:nvSpPr>
        <p:spPr>
          <a:xfrm>
            <a:off x="9640133" y="3821311"/>
            <a:ext cx="4196358" cy="3242786"/>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Re-segmentation divides a previously transmitted PDU into smaller segments. The RF (Re-segmentation Flag) is set to indicate this is a re-segmented PDU. The SO (Segment Offset) field specifies where each segment belongs within the original PDU, allowing the receiver to correctly reassemble all segments back into the complete PDU.</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54373" y="1049060"/>
            <a:ext cx="5767983" cy="613172"/>
          </a:xfrm>
          <a:prstGeom prst="rect">
            <a:avLst/>
          </a:prstGeom>
          <a:noFill/>
          <a:ln/>
        </p:spPr>
        <p:txBody>
          <a:bodyPr wrap="none" lIns="0" tIns="0" rIns="0" bIns="0" rtlCol="0" anchor="t"/>
          <a:lstStyle/>
          <a:p>
            <a:pPr marL="0" indent="0" algn="l">
              <a:lnSpc>
                <a:spcPts val="4800"/>
              </a:lnSpc>
              <a:buNone/>
            </a:pPr>
            <a:r>
              <a:rPr lang="en-US" sz="3700" dirty="0">
                <a:solidFill>
                  <a:srgbClr val="532418"/>
                </a:solidFill>
                <a:latin typeface="Marcellus" pitchFamily="34" charset="0"/>
                <a:ea typeface="Marcellus" pitchFamily="34" charset="-122"/>
                <a:cs typeface="Marcellus" pitchFamily="34" charset="-120"/>
              </a:rPr>
              <a:t>Summary &amp; Key Takeaways</a:t>
            </a:r>
            <a:endParaRPr lang="en-US" sz="3700" dirty="0"/>
          </a:p>
        </p:txBody>
      </p:sp>
      <p:sp>
        <p:nvSpPr>
          <p:cNvPr id="3" name="Text 1"/>
          <p:cNvSpPr/>
          <p:nvPr/>
        </p:nvSpPr>
        <p:spPr>
          <a:xfrm>
            <a:off x="1654373" y="1899523"/>
            <a:ext cx="11321534" cy="229791"/>
          </a:xfrm>
          <a:prstGeom prst="rect">
            <a:avLst/>
          </a:prstGeom>
          <a:noFill/>
          <a:ln/>
        </p:spPr>
        <p:txBody>
          <a:bodyPr wrap="none" lIns="0" tIns="0" rIns="0" bIns="0" rtlCol="0" anchor="t"/>
          <a:lstStyle/>
          <a:p>
            <a:pPr marL="0" indent="0" algn="l">
              <a:lnSpc>
                <a:spcPts val="1800"/>
              </a:lnSpc>
              <a:buNone/>
            </a:pPr>
            <a:r>
              <a:rPr lang="en-US" sz="1600" b="1" dirty="0">
                <a:solidFill>
                  <a:srgbClr val="67534F"/>
                </a:solidFill>
                <a:latin typeface="Montserrat" pitchFamily="34" charset="0"/>
                <a:ea typeface="Montserrat" pitchFamily="34" charset="-122"/>
                <a:cs typeface="Montserrat" pitchFamily="34" charset="-120"/>
              </a:rPr>
              <a:t>Summarize ARQ process and benefits</a:t>
            </a:r>
            <a:endParaRPr lang="en-US" sz="1600" dirty="0"/>
          </a:p>
        </p:txBody>
      </p:sp>
      <p:sp>
        <p:nvSpPr>
          <p:cNvPr id="4" name="Shape 2"/>
          <p:cNvSpPr/>
          <p:nvPr/>
        </p:nvSpPr>
        <p:spPr>
          <a:xfrm>
            <a:off x="1654373" y="2262783"/>
            <a:ext cx="3694748" cy="2082046"/>
          </a:xfrm>
          <a:prstGeom prst="roundRect">
            <a:avLst>
              <a:gd name="adj" fmla="val 3310"/>
            </a:avLst>
          </a:prstGeom>
          <a:solidFill>
            <a:srgbClr val="FFFFF4"/>
          </a:solidFill>
          <a:ln w="15240">
            <a:solidFill>
              <a:srgbClr val="FFE0CC"/>
            </a:solidFill>
            <a:prstDash val="solid"/>
          </a:ln>
        </p:spPr>
        <p:txBody>
          <a:bodyPr/>
          <a:lstStyle/>
          <a:p>
            <a:endParaRPr lang="en-IN"/>
          </a:p>
        </p:txBody>
      </p:sp>
      <p:sp>
        <p:nvSpPr>
          <p:cNvPr id="5" name="Shape 3"/>
          <p:cNvSpPr/>
          <p:nvPr/>
        </p:nvSpPr>
        <p:spPr>
          <a:xfrm>
            <a:off x="1833682" y="2442091"/>
            <a:ext cx="492204" cy="492204"/>
          </a:xfrm>
          <a:prstGeom prst="roundRect">
            <a:avLst>
              <a:gd name="adj" fmla="val 18575805"/>
            </a:avLst>
          </a:prstGeom>
          <a:solidFill>
            <a:srgbClr val="FF954F"/>
          </a:solidFill>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69056" y="2577465"/>
            <a:ext cx="221456" cy="221456"/>
          </a:xfrm>
          <a:prstGeom prst="rect">
            <a:avLst/>
          </a:prstGeom>
        </p:spPr>
      </p:pic>
      <p:sp>
        <p:nvSpPr>
          <p:cNvPr id="7" name="Text 4"/>
          <p:cNvSpPr/>
          <p:nvPr/>
        </p:nvSpPr>
        <p:spPr>
          <a:xfrm>
            <a:off x="1833682" y="3052882"/>
            <a:ext cx="2358628" cy="306586"/>
          </a:xfrm>
          <a:prstGeom prst="rect">
            <a:avLst/>
          </a:prstGeom>
          <a:noFill/>
          <a:ln/>
        </p:spPr>
        <p:txBody>
          <a:bodyPr wrap="none" lIns="0" tIns="0" rIns="0" bIns="0" rtlCol="0" anchor="t"/>
          <a:lstStyle/>
          <a:p>
            <a:pPr marL="0" indent="0" algn="l">
              <a:lnSpc>
                <a:spcPts val="2400"/>
              </a:lnSpc>
              <a:buNone/>
            </a:pPr>
            <a:r>
              <a:rPr lang="en-US" sz="1850" dirty="0">
                <a:solidFill>
                  <a:srgbClr val="67534F"/>
                </a:solidFill>
                <a:latin typeface="Marcellus" pitchFamily="34" charset="0"/>
                <a:ea typeface="Marcellus" pitchFamily="34" charset="-122"/>
                <a:cs typeface="Marcellus" pitchFamily="34" charset="-120"/>
              </a:rPr>
              <a:t>Reliable Data Transfer</a:t>
            </a:r>
            <a:endParaRPr lang="en-US" sz="1850" dirty="0"/>
          </a:p>
        </p:txBody>
      </p:sp>
      <p:sp>
        <p:nvSpPr>
          <p:cNvPr id="8" name="Text 5"/>
          <p:cNvSpPr/>
          <p:nvPr/>
        </p:nvSpPr>
        <p:spPr>
          <a:xfrm>
            <a:off x="1833682" y="3430667"/>
            <a:ext cx="3336131" cy="734854"/>
          </a:xfrm>
          <a:prstGeom prst="rect">
            <a:avLst/>
          </a:prstGeom>
          <a:noFill/>
          <a:ln/>
        </p:spPr>
        <p:txBody>
          <a:bodyPr wrap="square" lIns="0" tIns="0" rIns="0" bIns="0" rtlCol="0" anchor="t"/>
          <a:lstStyle/>
          <a:p>
            <a:pPr marL="0" indent="0" algn="l">
              <a:lnSpc>
                <a:spcPts val="1400"/>
              </a:lnSpc>
              <a:buNone/>
            </a:pPr>
            <a:r>
              <a:rPr lang="en-US" sz="1250" dirty="0">
                <a:solidFill>
                  <a:srgbClr val="67534F"/>
                </a:solidFill>
                <a:latin typeface="Montserrat" pitchFamily="34" charset="0"/>
                <a:ea typeface="Montserrat" pitchFamily="34" charset="-122"/>
                <a:cs typeface="Montserrat" pitchFamily="34" charset="-120"/>
              </a:rPr>
              <a:t>RLC ARQ ensures reliable data delivery over unreliable wireless channels through acknowledgment and retransmission mechanisms.</a:t>
            </a:r>
            <a:endParaRPr lang="en-US" sz="1250" dirty="0"/>
          </a:p>
        </p:txBody>
      </p:sp>
      <p:sp>
        <p:nvSpPr>
          <p:cNvPr id="9" name="Shape 6"/>
          <p:cNvSpPr/>
          <p:nvPr/>
        </p:nvSpPr>
        <p:spPr>
          <a:xfrm>
            <a:off x="5467707" y="2262783"/>
            <a:ext cx="3694748" cy="2082046"/>
          </a:xfrm>
          <a:prstGeom prst="roundRect">
            <a:avLst>
              <a:gd name="adj" fmla="val 3310"/>
            </a:avLst>
          </a:prstGeom>
          <a:solidFill>
            <a:srgbClr val="FFFFF4"/>
          </a:solidFill>
          <a:ln w="15240">
            <a:solidFill>
              <a:srgbClr val="FFE0CC"/>
            </a:solidFill>
            <a:prstDash val="solid"/>
          </a:ln>
        </p:spPr>
        <p:txBody>
          <a:bodyPr/>
          <a:lstStyle/>
          <a:p>
            <a:endParaRPr lang="en-IN"/>
          </a:p>
        </p:txBody>
      </p:sp>
      <p:sp>
        <p:nvSpPr>
          <p:cNvPr id="10" name="Shape 7"/>
          <p:cNvSpPr/>
          <p:nvPr/>
        </p:nvSpPr>
        <p:spPr>
          <a:xfrm>
            <a:off x="5647015" y="2442091"/>
            <a:ext cx="492204" cy="492204"/>
          </a:xfrm>
          <a:prstGeom prst="roundRect">
            <a:avLst>
              <a:gd name="adj" fmla="val 18575805"/>
            </a:avLst>
          </a:prstGeom>
          <a:solidFill>
            <a:srgbClr val="FF954F"/>
          </a:solidFill>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82389" y="2577465"/>
            <a:ext cx="221456" cy="221456"/>
          </a:xfrm>
          <a:prstGeom prst="rect">
            <a:avLst/>
          </a:prstGeom>
        </p:spPr>
      </p:pic>
      <p:sp>
        <p:nvSpPr>
          <p:cNvPr id="12" name="Text 8"/>
          <p:cNvSpPr/>
          <p:nvPr/>
        </p:nvSpPr>
        <p:spPr>
          <a:xfrm>
            <a:off x="5647015" y="3052882"/>
            <a:ext cx="2358628" cy="306586"/>
          </a:xfrm>
          <a:prstGeom prst="rect">
            <a:avLst/>
          </a:prstGeom>
          <a:noFill/>
          <a:ln/>
        </p:spPr>
        <p:txBody>
          <a:bodyPr wrap="none" lIns="0" tIns="0" rIns="0" bIns="0" rtlCol="0" anchor="t"/>
          <a:lstStyle/>
          <a:p>
            <a:pPr marL="0" indent="0" algn="l">
              <a:lnSpc>
                <a:spcPts val="2400"/>
              </a:lnSpc>
              <a:buNone/>
            </a:pPr>
            <a:r>
              <a:rPr lang="en-US" sz="1850" dirty="0">
                <a:solidFill>
                  <a:srgbClr val="67534F"/>
                </a:solidFill>
                <a:latin typeface="Marcellus" pitchFamily="34" charset="0"/>
                <a:ea typeface="Marcellus" pitchFamily="34" charset="-122"/>
                <a:cs typeface="Marcellus" pitchFamily="34" charset="-120"/>
              </a:rPr>
              <a:t>Efficient Recovery</a:t>
            </a:r>
            <a:endParaRPr lang="en-US" sz="1850" dirty="0"/>
          </a:p>
        </p:txBody>
      </p:sp>
      <p:sp>
        <p:nvSpPr>
          <p:cNvPr id="13" name="Text 9"/>
          <p:cNvSpPr/>
          <p:nvPr/>
        </p:nvSpPr>
        <p:spPr>
          <a:xfrm>
            <a:off x="5647015" y="3430667"/>
            <a:ext cx="3336131" cy="734854"/>
          </a:xfrm>
          <a:prstGeom prst="rect">
            <a:avLst/>
          </a:prstGeom>
          <a:noFill/>
          <a:ln/>
        </p:spPr>
        <p:txBody>
          <a:bodyPr wrap="square" lIns="0" tIns="0" rIns="0" bIns="0" rtlCol="0" anchor="t"/>
          <a:lstStyle/>
          <a:p>
            <a:pPr marL="0" indent="0" algn="l">
              <a:lnSpc>
                <a:spcPts val="1400"/>
              </a:lnSpc>
              <a:buNone/>
            </a:pPr>
            <a:r>
              <a:rPr lang="en-US" sz="1250" dirty="0">
                <a:solidFill>
                  <a:srgbClr val="67534F"/>
                </a:solidFill>
                <a:latin typeface="Montserrat" pitchFamily="34" charset="0"/>
                <a:ea typeface="Montserrat" pitchFamily="34" charset="-122"/>
                <a:cs typeface="Montserrat" pitchFamily="34" charset="-120"/>
              </a:rPr>
              <a:t>The combination of sequence numbers, STATUS reports, and sliding windows enables efficient detection and recovery from packet losses.</a:t>
            </a:r>
            <a:endParaRPr lang="en-US" sz="1250" dirty="0"/>
          </a:p>
        </p:txBody>
      </p:sp>
      <p:sp>
        <p:nvSpPr>
          <p:cNvPr id="14" name="Shape 10"/>
          <p:cNvSpPr/>
          <p:nvPr/>
        </p:nvSpPr>
        <p:spPr>
          <a:xfrm>
            <a:off x="9281041" y="2262783"/>
            <a:ext cx="3694867" cy="2082046"/>
          </a:xfrm>
          <a:prstGeom prst="roundRect">
            <a:avLst>
              <a:gd name="adj" fmla="val 3310"/>
            </a:avLst>
          </a:prstGeom>
          <a:solidFill>
            <a:srgbClr val="FFFFF4"/>
          </a:solidFill>
          <a:ln w="15240">
            <a:solidFill>
              <a:srgbClr val="FFE0CC"/>
            </a:solidFill>
            <a:prstDash val="solid"/>
          </a:ln>
        </p:spPr>
        <p:txBody>
          <a:bodyPr/>
          <a:lstStyle/>
          <a:p>
            <a:endParaRPr lang="en-IN"/>
          </a:p>
        </p:txBody>
      </p:sp>
      <p:sp>
        <p:nvSpPr>
          <p:cNvPr id="15" name="Shape 11"/>
          <p:cNvSpPr/>
          <p:nvPr/>
        </p:nvSpPr>
        <p:spPr>
          <a:xfrm>
            <a:off x="9460349" y="2442091"/>
            <a:ext cx="492204" cy="492204"/>
          </a:xfrm>
          <a:prstGeom prst="roundRect">
            <a:avLst>
              <a:gd name="adj" fmla="val 18575805"/>
            </a:avLst>
          </a:prstGeom>
          <a:solidFill>
            <a:srgbClr val="FF954F"/>
          </a:solidFill>
          <a:ln/>
        </p:spPr>
        <p:txBody>
          <a:bodyPr/>
          <a:lstStyle/>
          <a:p>
            <a:endParaRPr lang="en-IN"/>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95723" y="2577465"/>
            <a:ext cx="221456" cy="221456"/>
          </a:xfrm>
          <a:prstGeom prst="rect">
            <a:avLst/>
          </a:prstGeom>
        </p:spPr>
      </p:pic>
      <p:sp>
        <p:nvSpPr>
          <p:cNvPr id="17" name="Text 12"/>
          <p:cNvSpPr/>
          <p:nvPr/>
        </p:nvSpPr>
        <p:spPr>
          <a:xfrm>
            <a:off x="9460349" y="3052882"/>
            <a:ext cx="2358628" cy="306586"/>
          </a:xfrm>
          <a:prstGeom prst="rect">
            <a:avLst/>
          </a:prstGeom>
          <a:noFill/>
          <a:ln/>
        </p:spPr>
        <p:txBody>
          <a:bodyPr wrap="none" lIns="0" tIns="0" rIns="0" bIns="0" rtlCol="0" anchor="t"/>
          <a:lstStyle/>
          <a:p>
            <a:pPr marL="0" indent="0" algn="l">
              <a:lnSpc>
                <a:spcPts val="2400"/>
              </a:lnSpc>
              <a:buNone/>
            </a:pPr>
            <a:r>
              <a:rPr lang="en-US" sz="1850" dirty="0">
                <a:solidFill>
                  <a:srgbClr val="67534F"/>
                </a:solidFill>
                <a:latin typeface="Marcellus" pitchFamily="34" charset="0"/>
                <a:ea typeface="Marcellus" pitchFamily="34" charset="-122"/>
                <a:cs typeface="Marcellus" pitchFamily="34" charset="-120"/>
              </a:rPr>
              <a:t>Flexible Segmentation</a:t>
            </a:r>
            <a:endParaRPr lang="en-US" sz="1850" dirty="0"/>
          </a:p>
        </p:txBody>
      </p:sp>
      <p:sp>
        <p:nvSpPr>
          <p:cNvPr id="18" name="Text 13"/>
          <p:cNvSpPr/>
          <p:nvPr/>
        </p:nvSpPr>
        <p:spPr>
          <a:xfrm>
            <a:off x="9460349" y="3430667"/>
            <a:ext cx="3336250" cy="551140"/>
          </a:xfrm>
          <a:prstGeom prst="rect">
            <a:avLst/>
          </a:prstGeom>
          <a:noFill/>
          <a:ln/>
        </p:spPr>
        <p:txBody>
          <a:bodyPr wrap="square" lIns="0" tIns="0" rIns="0" bIns="0" rtlCol="0" anchor="t"/>
          <a:lstStyle/>
          <a:p>
            <a:pPr marL="0" indent="0" algn="l">
              <a:lnSpc>
                <a:spcPts val="1400"/>
              </a:lnSpc>
              <a:buNone/>
            </a:pPr>
            <a:r>
              <a:rPr lang="en-US" sz="1250" dirty="0">
                <a:solidFill>
                  <a:srgbClr val="67534F"/>
                </a:solidFill>
                <a:latin typeface="Montserrat" pitchFamily="34" charset="0"/>
                <a:ea typeface="Montserrat" pitchFamily="34" charset="-122"/>
                <a:cs typeface="Montserrat" pitchFamily="34" charset="-120"/>
              </a:rPr>
              <a:t>Re-segmentation capability allows RLC to adapt to varying MAC grant sizes while maintaining reliable delivery.</a:t>
            </a:r>
            <a:endParaRPr lang="en-US" sz="1250" dirty="0"/>
          </a:p>
        </p:txBody>
      </p:sp>
      <p:sp>
        <p:nvSpPr>
          <p:cNvPr id="19" name="Shape 14"/>
          <p:cNvSpPr/>
          <p:nvPr/>
        </p:nvSpPr>
        <p:spPr>
          <a:xfrm>
            <a:off x="1654373" y="4463415"/>
            <a:ext cx="11321534" cy="1530906"/>
          </a:xfrm>
          <a:prstGeom prst="roundRect">
            <a:avLst>
              <a:gd name="adj" fmla="val 4502"/>
            </a:avLst>
          </a:prstGeom>
          <a:solidFill>
            <a:srgbClr val="FFFFF4"/>
          </a:solidFill>
          <a:ln w="15240">
            <a:solidFill>
              <a:srgbClr val="FFE0CC"/>
            </a:solidFill>
            <a:prstDash val="solid"/>
          </a:ln>
        </p:spPr>
        <p:txBody>
          <a:bodyPr/>
          <a:lstStyle/>
          <a:p>
            <a:endParaRPr lang="en-IN"/>
          </a:p>
        </p:txBody>
      </p:sp>
      <p:sp>
        <p:nvSpPr>
          <p:cNvPr id="20" name="Shape 15"/>
          <p:cNvSpPr/>
          <p:nvPr/>
        </p:nvSpPr>
        <p:spPr>
          <a:xfrm>
            <a:off x="1833682" y="4642723"/>
            <a:ext cx="492204" cy="492204"/>
          </a:xfrm>
          <a:prstGeom prst="roundRect">
            <a:avLst>
              <a:gd name="adj" fmla="val 18575805"/>
            </a:avLst>
          </a:prstGeom>
          <a:solidFill>
            <a:srgbClr val="FF954F"/>
          </a:solidFill>
          <a:ln/>
        </p:spPr>
        <p:txBody>
          <a:bodyPr/>
          <a:lstStyle/>
          <a:p>
            <a:endParaRPr lang="en-IN"/>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69056" y="4778097"/>
            <a:ext cx="221456" cy="221456"/>
          </a:xfrm>
          <a:prstGeom prst="rect">
            <a:avLst/>
          </a:prstGeom>
        </p:spPr>
      </p:pic>
      <p:sp>
        <p:nvSpPr>
          <p:cNvPr id="22" name="Text 16"/>
          <p:cNvSpPr/>
          <p:nvPr/>
        </p:nvSpPr>
        <p:spPr>
          <a:xfrm>
            <a:off x="1833682" y="5253514"/>
            <a:ext cx="2358628" cy="306586"/>
          </a:xfrm>
          <a:prstGeom prst="rect">
            <a:avLst/>
          </a:prstGeom>
          <a:noFill/>
          <a:ln/>
        </p:spPr>
        <p:txBody>
          <a:bodyPr wrap="none" lIns="0" tIns="0" rIns="0" bIns="0" rtlCol="0" anchor="t"/>
          <a:lstStyle/>
          <a:p>
            <a:pPr marL="0" indent="0" algn="l">
              <a:lnSpc>
                <a:spcPts val="2400"/>
              </a:lnSpc>
              <a:buNone/>
            </a:pPr>
            <a:r>
              <a:rPr lang="en-US" sz="1850" dirty="0">
                <a:solidFill>
                  <a:srgbClr val="67534F"/>
                </a:solidFill>
                <a:latin typeface="Marcellus" pitchFamily="34" charset="0"/>
                <a:ea typeface="Marcellus" pitchFamily="34" charset="-122"/>
                <a:cs typeface="Marcellus" pitchFamily="34" charset="-120"/>
              </a:rPr>
              <a:t>Timely Feedback</a:t>
            </a:r>
            <a:endParaRPr lang="en-US" sz="1850" dirty="0"/>
          </a:p>
        </p:txBody>
      </p:sp>
      <p:sp>
        <p:nvSpPr>
          <p:cNvPr id="23" name="Text 17"/>
          <p:cNvSpPr/>
          <p:nvPr/>
        </p:nvSpPr>
        <p:spPr>
          <a:xfrm>
            <a:off x="1833682" y="5631299"/>
            <a:ext cx="10962918" cy="183713"/>
          </a:xfrm>
          <a:prstGeom prst="rect">
            <a:avLst/>
          </a:prstGeom>
          <a:noFill/>
          <a:ln/>
        </p:spPr>
        <p:txBody>
          <a:bodyPr wrap="none" lIns="0" tIns="0" rIns="0" bIns="0" rtlCol="0" anchor="t"/>
          <a:lstStyle/>
          <a:p>
            <a:pPr marL="0" indent="0" algn="l">
              <a:lnSpc>
                <a:spcPts val="1400"/>
              </a:lnSpc>
              <a:buNone/>
            </a:pPr>
            <a:r>
              <a:rPr lang="en-US" sz="1250" dirty="0">
                <a:solidFill>
                  <a:srgbClr val="67534F"/>
                </a:solidFill>
                <a:latin typeface="Montserrat" pitchFamily="34" charset="0"/>
                <a:ea typeface="Montserrat" pitchFamily="34" charset="-122"/>
                <a:cs typeface="Montserrat" pitchFamily="34" charset="-120"/>
              </a:rPr>
              <a:t>Polling mechanism ensures transmitter receives timely feedback, preventing stalls and optimizing throughput.</a:t>
            </a:r>
            <a:endParaRPr lang="en-US" sz="1250" dirty="0"/>
          </a:p>
        </p:txBody>
      </p:sp>
      <p:sp>
        <p:nvSpPr>
          <p:cNvPr id="25" name="Text 19"/>
          <p:cNvSpPr/>
          <p:nvPr/>
        </p:nvSpPr>
        <p:spPr>
          <a:xfrm>
            <a:off x="1654373" y="6491049"/>
            <a:ext cx="11321534" cy="689372"/>
          </a:xfrm>
          <a:prstGeom prst="rect">
            <a:avLst/>
          </a:prstGeom>
          <a:noFill/>
          <a:ln/>
        </p:spPr>
        <p:txBody>
          <a:bodyPr wrap="square" lIns="0" tIns="0" rIns="0" bIns="0" rtlCol="0" anchor="t"/>
          <a:lstStyle/>
          <a:p>
            <a:pPr marL="0" indent="0" algn="l">
              <a:lnSpc>
                <a:spcPts val="1800"/>
              </a:lnSpc>
              <a:buNone/>
            </a:pP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3DEEFC-4FCC-56D5-023C-8AECE497D4B9}"/>
              </a:ext>
            </a:extLst>
          </p:cNvPr>
          <p:cNvSpPr txBox="1"/>
          <p:nvPr/>
        </p:nvSpPr>
        <p:spPr>
          <a:xfrm>
            <a:off x="1616927" y="2676293"/>
            <a:ext cx="11285034" cy="2862322"/>
          </a:xfrm>
          <a:prstGeom prst="rect">
            <a:avLst/>
          </a:prstGeom>
          <a:noFill/>
        </p:spPr>
        <p:txBody>
          <a:bodyPr wrap="square" rtlCol="0">
            <a:spAutoFit/>
          </a:bodyPr>
          <a:lstStyle/>
          <a:p>
            <a:r>
              <a:rPr lang="en-US" sz="3600" dirty="0"/>
              <a:t>RLC ARQ in 5G NR Acknowledged Mode is a critical component that bridges the gap between the unreliable nature of wireless transmission and the need for guaranteed data delivery, making it essential for applications requiring high reliability.</a:t>
            </a:r>
          </a:p>
        </p:txBody>
      </p:sp>
      <p:sp>
        <p:nvSpPr>
          <p:cNvPr id="5" name="TextBox 4">
            <a:extLst>
              <a:ext uri="{FF2B5EF4-FFF2-40B4-BE49-F238E27FC236}">
                <a16:creationId xmlns:a16="http://schemas.microsoft.com/office/drawing/2014/main" id="{419CCC6A-6D07-A926-4F63-198A568C780A}"/>
              </a:ext>
            </a:extLst>
          </p:cNvPr>
          <p:cNvSpPr txBox="1"/>
          <p:nvPr/>
        </p:nvSpPr>
        <p:spPr>
          <a:xfrm>
            <a:off x="4672361" y="959005"/>
            <a:ext cx="4650059" cy="1015663"/>
          </a:xfrm>
          <a:prstGeom prst="rect">
            <a:avLst/>
          </a:prstGeom>
          <a:noFill/>
        </p:spPr>
        <p:txBody>
          <a:bodyPr wrap="square" rtlCol="0">
            <a:spAutoFit/>
          </a:bodyPr>
          <a:lstStyle/>
          <a:p>
            <a:pPr algn="ctr"/>
            <a:r>
              <a:rPr lang="en-US" sz="6000" dirty="0"/>
              <a:t>CONCLUSION</a:t>
            </a:r>
            <a:endParaRPr lang="en-IN" sz="6000" dirty="0"/>
          </a:p>
        </p:txBody>
      </p:sp>
    </p:spTree>
    <p:extLst>
      <p:ext uri="{BB962C8B-B14F-4D97-AF65-F5344CB8AC3E}">
        <p14:creationId xmlns:p14="http://schemas.microsoft.com/office/powerpoint/2010/main" val="305061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70D26B-5836-E19B-D7E1-B06560967C0E}"/>
              </a:ext>
            </a:extLst>
          </p:cNvPr>
          <p:cNvSpPr txBox="1"/>
          <p:nvPr/>
        </p:nvSpPr>
        <p:spPr>
          <a:xfrm>
            <a:off x="3724507" y="2810107"/>
            <a:ext cx="6278137" cy="1200329"/>
          </a:xfrm>
          <a:prstGeom prst="rect">
            <a:avLst/>
          </a:prstGeom>
          <a:noFill/>
        </p:spPr>
        <p:txBody>
          <a:bodyPr wrap="square" rtlCol="0">
            <a:spAutoFit/>
          </a:bodyPr>
          <a:lstStyle/>
          <a:p>
            <a:pPr algn="ctr"/>
            <a:r>
              <a:rPr lang="en-US" sz="7200" dirty="0"/>
              <a:t>THANK YOU </a:t>
            </a:r>
            <a:endParaRPr lang="en-IN" sz="7200" dirty="0"/>
          </a:p>
        </p:txBody>
      </p:sp>
    </p:spTree>
    <p:extLst>
      <p:ext uri="{BB962C8B-B14F-4D97-AF65-F5344CB8AC3E}">
        <p14:creationId xmlns:p14="http://schemas.microsoft.com/office/powerpoint/2010/main" val="4150412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1022</Words>
  <Application>Microsoft Office PowerPoint</Application>
  <PresentationFormat>Custom</PresentationFormat>
  <Paragraphs>97</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Marcellus Light</vt:lpstr>
      <vt:lpstr>Montserrat</vt:lpstr>
      <vt:lpstr>Marcellus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Harshinie M</cp:lastModifiedBy>
  <cp:revision>2</cp:revision>
  <dcterms:created xsi:type="dcterms:W3CDTF">2026-02-03T10:26:11Z</dcterms:created>
  <dcterms:modified xsi:type="dcterms:W3CDTF">2026-02-03T10:50:13Z</dcterms:modified>
</cp:coreProperties>
</file>