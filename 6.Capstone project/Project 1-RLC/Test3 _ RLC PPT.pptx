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4421" r:id="rId3"/>
    <p:sldId id="4422" r:id="rId4"/>
    <p:sldId id="4441" r:id="rId5"/>
    <p:sldId id="4440" r:id="rId6"/>
    <p:sldId id="4438" r:id="rId7"/>
    <p:sldId id="4439" r:id="rId8"/>
    <p:sldId id="4437" r:id="rId9"/>
    <p:sldId id="4436" r:id="rId10"/>
    <p:sldId id="4435" r:id="rId11"/>
    <p:sldId id="4434" r:id="rId12"/>
    <p:sldId id="4433" r:id="rId13"/>
    <p:sldId id="4432" r:id="rId14"/>
    <p:sldId id="4431" r:id="rId15"/>
    <p:sldId id="4430" r:id="rId16"/>
    <p:sldId id="4429" r:id="rId17"/>
    <p:sldId id="4428" r:id="rId18"/>
    <p:sldId id="4427" r:id="rId19"/>
    <p:sldId id="4423" r:id="rId20"/>
    <p:sldId id="4424" r:id="rId21"/>
    <p:sldId id="4426" r:id="rId22"/>
    <p:sldId id="442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64667-E269-4945-B7C0-AD99F8954A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98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25SUB4505_5 G Developer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13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Group (03)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5G NR RLC ARQ Process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581595" y="433798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sz="3200" b="1" u="sng" dirty="0">
                <a:solidFill>
                  <a:schemeClr val="tx2">
                    <a:lumMod val="50000"/>
                    <a:lumOff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u="sng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560997" y="6644241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350211" y="1948529"/>
            <a:ext cx="11491577" cy="3108543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5G networks require ultra-reliable and low-latency data transmission for      services like IoT, and video streaming.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The RLC layer ensures ordered and error-free delivery of data between PDCP and MAC layers.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ARQ mechanism helps in detecting packet loss and retransmitting missing data.</a:t>
            </a:r>
            <a:br>
              <a:rPr lang="en-US" sz="2800" dirty="0"/>
            </a:b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US" sz="2800" dirty="0"/>
              <a:t> This project demonstrates ARQ working through C++ simulation.</a:t>
            </a:r>
            <a:endParaRPr lang="en-IN" sz="28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989C71D-541A-CADF-A920-82C71D0A1AEB}"/>
              </a:ext>
            </a:extLst>
          </p:cNvPr>
          <p:cNvSpPr/>
          <p:nvPr/>
        </p:nvSpPr>
        <p:spPr>
          <a:xfrm>
            <a:off x="0" y="0"/>
            <a:ext cx="12192000" cy="10746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94F6514-B590-7D3C-3F2E-A8AB876BE64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58DFA-6D02-1214-B304-2C4A12F34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C57F618-512C-AA82-5CB9-A2EA9E898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ED9B5B5-5A7B-2E58-4A93-C051B96BE634}"/>
              </a:ext>
            </a:extLst>
          </p:cNvPr>
          <p:cNvSpPr txBox="1"/>
          <p:nvPr/>
        </p:nvSpPr>
        <p:spPr>
          <a:xfrm>
            <a:off x="4424757" y="6555104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562C4-C5BE-DB17-AC17-4A1F44A1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6D2BC-A89E-94AF-FE40-71AEF0BD67F2}"/>
              </a:ext>
            </a:extLst>
          </p:cNvPr>
          <p:cNvSpPr txBox="1"/>
          <p:nvPr/>
        </p:nvSpPr>
        <p:spPr>
          <a:xfrm>
            <a:off x="2177290" y="1363564"/>
            <a:ext cx="8060220" cy="4832092"/>
          </a:xfrm>
          <a:prstGeom prst="rect">
            <a:avLst/>
          </a:prstGeom>
          <a:noFill/>
          <a:ln>
            <a:solidFill>
              <a:schemeClr val="bg2">
                <a:lumMod val="90000"/>
              </a:schemeClr>
            </a:solidFill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PDCP handles security, header compression, and data forwarding.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RLC performs segmentation, reassembly, and error control using ARQ.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/>
              <a:t> MAC manages scheduling and fast retransmissions using HARQ.</a:t>
            </a:r>
            <a:br>
              <a:rPr lang="en-IN" sz="2800" dirty="0"/>
            </a:br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•</a:t>
            </a:r>
            <a:r>
              <a:rPr lang="en-IN" sz="28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IN" sz="2800" dirty="0"/>
              <a:t>PHY layer handles modulation, coding, and wireless transmission.</a:t>
            </a:r>
          </a:p>
          <a:p>
            <a:endParaRPr lang="en-IN" sz="2800" dirty="0"/>
          </a:p>
          <a:p>
            <a:r>
              <a:rPr lang="en-IN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➡</a:t>
            </a:r>
            <a:r>
              <a:rPr lang="en-IN" sz="2800" dirty="0"/>
              <a:t> RLC plays a key role in reliability.</a:t>
            </a:r>
          </a:p>
          <a:p>
            <a:endParaRPr lang="en-IN" sz="28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C5DACFEA-39FD-684D-AFAA-3FC2617BA5E2}"/>
              </a:ext>
            </a:extLst>
          </p:cNvPr>
          <p:cNvSpPr/>
          <p:nvPr/>
        </p:nvSpPr>
        <p:spPr>
          <a:xfrm>
            <a:off x="0" y="-1"/>
            <a:ext cx="12192000" cy="11406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470539C8-3127-45A9-53DF-7D7B22CC400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Protocol Stack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13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8FC76-0B34-03CF-8749-E633FB843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CD7225F-23D9-51D7-799D-7AC4DCB46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CDE971A3-C1C2-C0AE-C92F-1990EC7E3919}"/>
              </a:ext>
            </a:extLst>
          </p:cNvPr>
          <p:cNvSpPr txBox="1"/>
          <p:nvPr/>
        </p:nvSpPr>
        <p:spPr>
          <a:xfrm>
            <a:off x="4339916" y="6568451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F9CB6-BB05-5040-EE43-3D3A32264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5B7B76-AC09-6C53-4863-832BD5ACD67A}"/>
              </a:ext>
            </a:extLst>
          </p:cNvPr>
          <p:cNvSpPr txBox="1"/>
          <p:nvPr/>
        </p:nvSpPr>
        <p:spPr>
          <a:xfrm>
            <a:off x="8222529" y="2372814"/>
            <a:ext cx="274320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Protocol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</a:p>
          <a:p>
            <a:pPr>
              <a:lnSpc>
                <a:spcPts val="2200"/>
              </a:lnSpc>
            </a:pPr>
            <a:endParaRPr lang="en-US" dirty="0"/>
          </a:p>
          <a:p>
            <a:pPr>
              <a:lnSpc>
                <a:spcPts val="2200"/>
              </a:lnSpc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dirty="0"/>
          </a:p>
          <a:p>
            <a:endParaRPr lang="en-IN" dirty="0"/>
          </a:p>
        </p:txBody>
      </p:sp>
      <p:sp>
        <p:nvSpPr>
          <p:cNvPr id="23" name="Shape 0">
            <a:extLst>
              <a:ext uri="{FF2B5EF4-FFF2-40B4-BE49-F238E27FC236}">
                <a16:creationId xmlns:a16="http://schemas.microsoft.com/office/drawing/2014/main" id="{93FACF8A-0860-B6DA-5F5C-0B8BFB8398EE}"/>
              </a:ext>
            </a:extLst>
          </p:cNvPr>
          <p:cNvSpPr/>
          <p:nvPr/>
        </p:nvSpPr>
        <p:spPr>
          <a:xfrm>
            <a:off x="0" y="-1"/>
            <a:ext cx="12192000" cy="11231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4FF5723-4757-E415-0200-6A6E640E99E9}"/>
              </a:ext>
            </a:extLst>
          </p:cNvPr>
          <p:cNvSpPr/>
          <p:nvPr/>
        </p:nvSpPr>
        <p:spPr>
          <a:xfrm>
            <a:off x="431513" y="168334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RLC ARQ</a:t>
            </a:r>
            <a:endParaRPr lang="en-US" sz="4400" dirty="0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CEC5E5E6-A989-8A58-D12B-DED1E4B71F5E}"/>
              </a:ext>
            </a:extLst>
          </p:cNvPr>
          <p:cNvSpPr/>
          <p:nvPr/>
        </p:nvSpPr>
        <p:spPr>
          <a:xfrm>
            <a:off x="754396" y="1640263"/>
            <a:ext cx="6096000" cy="67031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 Overview</a:t>
            </a:r>
            <a:endParaRPr lang="en-US" sz="3600" dirty="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55E7B5FB-1575-C47C-394E-4100F7CA464A}"/>
              </a:ext>
            </a:extLst>
          </p:cNvPr>
          <p:cNvSpPr/>
          <p:nvPr/>
        </p:nvSpPr>
        <p:spPr>
          <a:xfrm>
            <a:off x="754396" y="2285622"/>
            <a:ext cx="6096000" cy="2995681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Radio Link Control (RLC) layer is a critical component of the 5G NR protocol stack, positioned between PDCP and MAC layers.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operates in three modes: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Transparent Mode (TM)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Unacknowledged Mode (UM)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Acknowledged Mode (AM)</a:t>
            </a: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endParaRPr lang="en-US" sz="20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mechanism is implemented exclusively in AM mode, providing reliable data delivery through automatic retransmission of lost PDUs.</a:t>
            </a:r>
            <a:endParaRPr lang="en-US" sz="200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C54698C9-9BB1-621C-EA28-F82DC5E16378}"/>
              </a:ext>
            </a:extLst>
          </p:cNvPr>
          <p:cNvSpPr/>
          <p:nvPr/>
        </p:nvSpPr>
        <p:spPr>
          <a:xfrm>
            <a:off x="7466029" y="1640263"/>
            <a:ext cx="3971575" cy="36099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DCBE4370-DD9C-A43A-0EDE-5835F512A081}"/>
              </a:ext>
            </a:extLst>
          </p:cNvPr>
          <p:cNvSpPr/>
          <p:nvPr/>
        </p:nvSpPr>
        <p:spPr>
          <a:xfrm>
            <a:off x="7798298" y="1944823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2000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248A8EB-4AF1-3501-7BA8-C88619CC3668}"/>
              </a:ext>
            </a:extLst>
          </p:cNvPr>
          <p:cNvSpPr/>
          <p:nvPr/>
        </p:nvSpPr>
        <p:spPr>
          <a:xfrm>
            <a:off x="7884579" y="2372812"/>
            <a:ext cx="3779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Protocol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Delivery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Control</a:t>
            </a: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endParaRPr lang="en-US" sz="16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88317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55378-C1DA-BD13-570E-739BA1D72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D88D6D6-1FFE-E56A-A0B8-B5591BD33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02DF1F1-0CC9-3997-4242-5DAAF56589C0}"/>
              </a:ext>
            </a:extLst>
          </p:cNvPr>
          <p:cNvSpPr txBox="1"/>
          <p:nvPr/>
        </p:nvSpPr>
        <p:spPr>
          <a:xfrm>
            <a:off x="4424757" y="660765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539C3B-17AC-9197-6847-E9DC98C20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668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63F964-AB8C-3BF8-843F-EA57E1683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650" y="45526"/>
            <a:ext cx="8518700" cy="637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202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1ABE-3B7A-F619-D7F7-617EF2BCE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BDF77CE-582E-0DFA-BB26-6E390DEFD4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DF66738-B92E-CE7C-ED01-14A9E5FC2D29}"/>
              </a:ext>
            </a:extLst>
          </p:cNvPr>
          <p:cNvSpPr txBox="1"/>
          <p:nvPr/>
        </p:nvSpPr>
        <p:spPr>
          <a:xfrm>
            <a:off x="4424757" y="659394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BD652-534E-EBEF-F40F-85A4AF950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69489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230AAC0-FA80-1BE9-7FB2-13322A5366B8}"/>
              </a:ext>
            </a:extLst>
          </p:cNvPr>
          <p:cNvSpPr/>
          <p:nvPr/>
        </p:nvSpPr>
        <p:spPr>
          <a:xfrm>
            <a:off x="0" y="-1"/>
            <a:ext cx="12192000" cy="9570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1A500DC4-FF22-FC73-D428-FE97FF386CCB}"/>
              </a:ext>
            </a:extLst>
          </p:cNvPr>
          <p:cNvSpPr/>
          <p:nvPr/>
        </p:nvSpPr>
        <p:spPr>
          <a:xfrm>
            <a:off x="344079" y="101161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Architecture Overview</a:t>
            </a:r>
            <a:endParaRPr lang="en-US" sz="4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4684470-C481-C2C5-278D-C070E08099A2}"/>
              </a:ext>
            </a:extLst>
          </p:cNvPr>
          <p:cNvSpPr/>
          <p:nvPr/>
        </p:nvSpPr>
        <p:spPr>
          <a:xfrm>
            <a:off x="510933" y="1333321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Stack Position</a:t>
            </a:r>
            <a:endParaRPr lang="en-US" sz="2800" u="sng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149C9F68-7719-3CF6-C9A8-52C1A65FA756}"/>
              </a:ext>
            </a:extLst>
          </p:cNvPr>
          <p:cNvSpPr/>
          <p:nvPr/>
        </p:nvSpPr>
        <p:spPr>
          <a:xfrm>
            <a:off x="579120" y="1912462"/>
            <a:ext cx="4846320" cy="685851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25D1A099-6F35-BC4D-3AA7-278D37928847}"/>
              </a:ext>
            </a:extLst>
          </p:cNvPr>
          <p:cNvSpPr/>
          <p:nvPr/>
        </p:nvSpPr>
        <p:spPr>
          <a:xfrm>
            <a:off x="579120" y="1968737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Layer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99E4AB36-8DC6-F6DB-C450-2D703FCF01D6}"/>
              </a:ext>
            </a:extLst>
          </p:cNvPr>
          <p:cNvSpPr/>
          <p:nvPr/>
        </p:nvSpPr>
        <p:spPr>
          <a:xfrm>
            <a:off x="579120" y="2276311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Ciphering, Header Compression</a:t>
            </a:r>
            <a:endParaRPr lang="en-US" sz="1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731D7289-3E96-F1F6-8227-B8E1764C8AAE}"/>
              </a:ext>
            </a:extLst>
          </p:cNvPr>
          <p:cNvSpPr/>
          <p:nvPr/>
        </p:nvSpPr>
        <p:spPr>
          <a:xfrm>
            <a:off x="579120" y="2680265"/>
            <a:ext cx="4846320" cy="696376"/>
          </a:xfrm>
          <a:prstGeom prst="rect">
            <a:avLst/>
          </a:prstGeom>
          <a:solidFill>
            <a:srgbClr val="00D9FF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F7CBAC3-DCA7-EE96-382F-FB2A85F0991B}"/>
              </a:ext>
            </a:extLst>
          </p:cNvPr>
          <p:cNvSpPr/>
          <p:nvPr/>
        </p:nvSpPr>
        <p:spPr>
          <a:xfrm>
            <a:off x="579120" y="2759321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Layer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81D9A80-8104-BC65-0072-9F2EEB61ABF5}"/>
              </a:ext>
            </a:extLst>
          </p:cNvPr>
          <p:cNvSpPr/>
          <p:nvPr/>
        </p:nvSpPr>
        <p:spPr>
          <a:xfrm>
            <a:off x="548640" y="3100756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operates here</a:t>
            </a:r>
            <a:endParaRPr lang="en-US" sz="16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68F846A3-C52A-6082-535F-F2F84AC36295}"/>
              </a:ext>
            </a:extLst>
          </p:cNvPr>
          <p:cNvSpPr/>
          <p:nvPr/>
        </p:nvSpPr>
        <p:spPr>
          <a:xfrm>
            <a:off x="548640" y="3769001"/>
            <a:ext cx="4876800" cy="798157"/>
          </a:xfrm>
          <a:prstGeom prst="rect">
            <a:avLst/>
          </a:prstGeom>
          <a:solidFill>
            <a:srgbClr val="2C74B3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AB8F706-86F0-961B-81CA-6FA510F52B77}"/>
              </a:ext>
            </a:extLst>
          </p:cNvPr>
          <p:cNvSpPr/>
          <p:nvPr/>
        </p:nvSpPr>
        <p:spPr>
          <a:xfrm>
            <a:off x="579120" y="3813290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Layer</a:t>
            </a:r>
            <a:endParaRPr lang="en-US" sz="20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2F5A54BB-6355-129F-650D-986B1EBEE8C2}"/>
              </a:ext>
            </a:extLst>
          </p:cNvPr>
          <p:cNvSpPr/>
          <p:nvPr/>
        </p:nvSpPr>
        <p:spPr>
          <a:xfrm>
            <a:off x="579120" y="4204329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HARQ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58479DA-3CD6-7143-EC65-29A0D4F5E094}"/>
              </a:ext>
            </a:extLst>
          </p:cNvPr>
          <p:cNvSpPr/>
          <p:nvPr/>
        </p:nvSpPr>
        <p:spPr>
          <a:xfrm>
            <a:off x="548640" y="4684314"/>
            <a:ext cx="4907280" cy="738947"/>
          </a:xfrm>
          <a:prstGeom prst="rect">
            <a:avLst/>
          </a:prstGeom>
          <a:solidFill>
            <a:srgbClr val="0A264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E4D2214-CCAF-0212-F6D9-92941CAE7CA5}"/>
              </a:ext>
            </a:extLst>
          </p:cNvPr>
          <p:cNvSpPr/>
          <p:nvPr/>
        </p:nvSpPr>
        <p:spPr>
          <a:xfrm>
            <a:off x="548640" y="4772659"/>
            <a:ext cx="463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 Layer</a:t>
            </a:r>
            <a:endParaRPr lang="en-US" sz="20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A2F7077C-6248-35FA-B67F-20F815594E69}"/>
              </a:ext>
            </a:extLst>
          </p:cNvPr>
          <p:cNvSpPr/>
          <p:nvPr/>
        </p:nvSpPr>
        <p:spPr>
          <a:xfrm>
            <a:off x="579120" y="5112897"/>
            <a:ext cx="463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Modulation, Coding</a:t>
            </a:r>
            <a:endParaRPr lang="en-US" sz="16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A37E8B75-C6DF-CC93-F87E-2F3F5F8E1D1C}"/>
              </a:ext>
            </a:extLst>
          </p:cNvPr>
          <p:cNvSpPr/>
          <p:nvPr/>
        </p:nvSpPr>
        <p:spPr>
          <a:xfrm>
            <a:off x="6309360" y="1333321"/>
            <a:ext cx="524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u="sng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Entity Structure</a:t>
            </a:r>
            <a:endParaRPr lang="en-US" sz="2800" u="sng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856CD6E1-8B4A-0C5E-AF13-F3E6AB44FDAE}"/>
              </a:ext>
            </a:extLst>
          </p:cNvPr>
          <p:cNvSpPr/>
          <p:nvPr/>
        </p:nvSpPr>
        <p:spPr>
          <a:xfrm>
            <a:off x="6400800" y="1912462"/>
            <a:ext cx="5242560" cy="1516537"/>
          </a:xfrm>
          <a:prstGeom prst="rect">
            <a:avLst/>
          </a:prstGeom>
          <a:solidFill>
            <a:srgbClr val="F5F5F5"/>
          </a:solidFill>
          <a:ln w="25400">
            <a:solidFill>
              <a:srgbClr val="2C74B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41D4E84A-1567-1DE9-4AC5-BE1117DEDA20}"/>
              </a:ext>
            </a:extLst>
          </p:cNvPr>
          <p:cNvSpPr/>
          <p:nvPr/>
        </p:nvSpPr>
        <p:spPr>
          <a:xfrm>
            <a:off x="6431280" y="2079666"/>
            <a:ext cx="499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Transmitting Side</a:t>
            </a:r>
            <a:endParaRPr lang="en-US" sz="28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C69DB809-F791-E93D-2AF6-87A7A38E0A70}"/>
              </a:ext>
            </a:extLst>
          </p:cNvPr>
          <p:cNvSpPr/>
          <p:nvPr/>
        </p:nvSpPr>
        <p:spPr>
          <a:xfrm>
            <a:off x="6431280" y="2521189"/>
            <a:ext cx="499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SDU reception from PDCP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construction &amp; segmentation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Polling &amp; retransmission</a:t>
            </a:r>
            <a:endParaRPr lang="en-US" sz="1600" dirty="0"/>
          </a:p>
          <a:p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processing</a:t>
            </a:r>
            <a:endParaRPr lang="en-US" sz="160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A1EDED55-B980-72B5-2767-9C90849F6B61}"/>
              </a:ext>
            </a:extLst>
          </p:cNvPr>
          <p:cNvSpPr/>
          <p:nvPr/>
        </p:nvSpPr>
        <p:spPr>
          <a:xfrm>
            <a:off x="6431280" y="3773378"/>
            <a:ext cx="5242560" cy="1664180"/>
          </a:xfrm>
          <a:prstGeom prst="rect">
            <a:avLst/>
          </a:prstGeom>
          <a:solidFill>
            <a:srgbClr val="F5F5F5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7968129E-A990-6811-7BE4-49ACE96ABDC7}"/>
              </a:ext>
            </a:extLst>
          </p:cNvPr>
          <p:cNvSpPr/>
          <p:nvPr/>
        </p:nvSpPr>
        <p:spPr>
          <a:xfrm>
            <a:off x="6461760" y="3954666"/>
            <a:ext cx="499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Side</a:t>
            </a:r>
            <a:endParaRPr lang="en-US" sz="28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09CC6BF-A30B-FEEB-7DF8-6FD7363C4B36}"/>
              </a:ext>
            </a:extLst>
          </p:cNvPr>
          <p:cNvSpPr/>
          <p:nvPr/>
        </p:nvSpPr>
        <p:spPr>
          <a:xfrm>
            <a:off x="6461760" y="4432929"/>
            <a:ext cx="499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PDU reception &amp; reordering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detection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In-order delivery to PDCP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report generation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797896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45CDE-17BC-E017-51F9-E82F6B052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164387ED-1D7B-198B-C806-9648E8DC7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6A7E644-8066-58FF-2912-FD4B26F7E6FE}"/>
              </a:ext>
            </a:extLst>
          </p:cNvPr>
          <p:cNvSpPr txBox="1"/>
          <p:nvPr/>
        </p:nvSpPr>
        <p:spPr>
          <a:xfrm>
            <a:off x="4424757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49D7A-8035-B87F-4F9B-B867A14E2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956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955E0-6534-BF2D-3CB4-F6F3FEDAB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4145" y="90969"/>
            <a:ext cx="8981091" cy="635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641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A9E3-2FBA-083E-C102-211920061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4D9FCC0-7DF3-9A62-B1BB-995245D36A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9F81ACF-7A36-3030-A517-691B713B295B}"/>
              </a:ext>
            </a:extLst>
          </p:cNvPr>
          <p:cNvSpPr txBox="1"/>
          <p:nvPr/>
        </p:nvSpPr>
        <p:spPr>
          <a:xfrm>
            <a:off x="4424757" y="661651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C590A-4839-578B-D317-01E06B7FD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BF947C85-8EB7-0BD6-9A75-250EAF980CCF}"/>
              </a:ext>
            </a:extLst>
          </p:cNvPr>
          <p:cNvSpPr/>
          <p:nvPr/>
        </p:nvSpPr>
        <p:spPr>
          <a:xfrm>
            <a:off x="0" y="0"/>
            <a:ext cx="12192000" cy="10331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9CF28EC-F3BF-3024-8271-15F443893C0C}"/>
              </a:ext>
            </a:extLst>
          </p:cNvPr>
          <p:cNvSpPr/>
          <p:nvPr/>
        </p:nvSpPr>
        <p:spPr>
          <a:xfrm>
            <a:off x="554177" y="145483"/>
            <a:ext cx="1105481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 Process Flow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97DD8783-0987-9210-F1A5-7C9E63B203A9}"/>
              </a:ext>
            </a:extLst>
          </p:cNvPr>
          <p:cNvSpPr/>
          <p:nvPr/>
        </p:nvSpPr>
        <p:spPr>
          <a:xfrm>
            <a:off x="1248816" y="1957382"/>
            <a:ext cx="614156" cy="565795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8A4BFBB-F411-CF8E-EF75-4F19D163B8DC}"/>
              </a:ext>
            </a:extLst>
          </p:cNvPr>
          <p:cNvSpPr/>
          <p:nvPr/>
        </p:nvSpPr>
        <p:spPr>
          <a:xfrm>
            <a:off x="1260835" y="2025612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AE164791-C740-BABA-06B9-C76DBCF51B71}"/>
              </a:ext>
            </a:extLst>
          </p:cNvPr>
          <p:cNvSpPr/>
          <p:nvPr/>
        </p:nvSpPr>
        <p:spPr>
          <a:xfrm>
            <a:off x="1968132" y="2060875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SDU Reception</a:t>
            </a:r>
            <a:endParaRPr lang="en-US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006BFE3-DEA0-56D7-4B42-169FE0AD84CE}"/>
              </a:ext>
            </a:extLst>
          </p:cNvPr>
          <p:cNvSpPr/>
          <p:nvPr/>
        </p:nvSpPr>
        <p:spPr>
          <a:xfrm>
            <a:off x="1968132" y="2317631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PDCP submits SDUs to RLC transmitter</a:t>
            </a:r>
            <a:endParaRPr lang="en-US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0937B53-EB37-0749-F9C8-8DBA53465222}"/>
              </a:ext>
            </a:extLst>
          </p:cNvPr>
          <p:cNvSpPr/>
          <p:nvPr/>
        </p:nvSpPr>
        <p:spPr>
          <a:xfrm>
            <a:off x="6088983" y="1976995"/>
            <a:ext cx="614156" cy="586912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E4025F2E-4892-B69F-358E-12AF338DCC72}"/>
              </a:ext>
            </a:extLst>
          </p:cNvPr>
          <p:cNvSpPr/>
          <p:nvPr/>
        </p:nvSpPr>
        <p:spPr>
          <a:xfrm>
            <a:off x="6081584" y="2020235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168F08B-00FB-F8DF-E196-741524A7662F}"/>
              </a:ext>
            </a:extLst>
          </p:cNvPr>
          <p:cNvSpPr/>
          <p:nvPr/>
        </p:nvSpPr>
        <p:spPr>
          <a:xfrm>
            <a:off x="6731681" y="2058908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PDU Construction</a:t>
            </a:r>
            <a:endParaRPr lang="en-US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254D868B-C797-7C94-635E-892F4EF8917F}"/>
              </a:ext>
            </a:extLst>
          </p:cNvPr>
          <p:cNvSpPr/>
          <p:nvPr/>
        </p:nvSpPr>
        <p:spPr>
          <a:xfrm>
            <a:off x="6755719" y="2303744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AMD PDUs with headers (D/C, P, SI, SN)</a:t>
            </a:r>
            <a:endParaRPr lang="en-US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17DC858F-CDD1-A5A5-A831-965F11FDE755}"/>
              </a:ext>
            </a:extLst>
          </p:cNvPr>
          <p:cNvSpPr/>
          <p:nvPr/>
        </p:nvSpPr>
        <p:spPr>
          <a:xfrm>
            <a:off x="1252115" y="2863293"/>
            <a:ext cx="614156" cy="56570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B048899-4B80-5BD7-0625-5D9B885F9223}"/>
              </a:ext>
            </a:extLst>
          </p:cNvPr>
          <p:cNvSpPr/>
          <p:nvPr/>
        </p:nvSpPr>
        <p:spPr>
          <a:xfrm>
            <a:off x="1248816" y="2924796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B615F1E-A6F4-A180-864F-2892E85296DF}"/>
              </a:ext>
            </a:extLst>
          </p:cNvPr>
          <p:cNvSpPr/>
          <p:nvPr/>
        </p:nvSpPr>
        <p:spPr>
          <a:xfrm>
            <a:off x="1968132" y="2927986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</a:t>
            </a:r>
            <a:endParaRPr lang="en-US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1B7E9054-4B4D-E1E3-E19A-22BCF4410C4F}"/>
              </a:ext>
            </a:extLst>
          </p:cNvPr>
          <p:cNvSpPr/>
          <p:nvPr/>
        </p:nvSpPr>
        <p:spPr>
          <a:xfrm>
            <a:off x="1968132" y="3184297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Poll bit based on triggers</a:t>
            </a:r>
            <a:endParaRPr lang="en-US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5FA8059-17B5-9C93-A2B2-7BDC2AAE4886}"/>
              </a:ext>
            </a:extLst>
          </p:cNvPr>
          <p:cNvSpPr/>
          <p:nvPr/>
        </p:nvSpPr>
        <p:spPr>
          <a:xfrm>
            <a:off x="6108045" y="2863130"/>
            <a:ext cx="614156" cy="586911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4D6DF4AE-03C5-8EBD-FD8A-7EBA8A44C286}"/>
              </a:ext>
            </a:extLst>
          </p:cNvPr>
          <p:cNvSpPr/>
          <p:nvPr/>
        </p:nvSpPr>
        <p:spPr>
          <a:xfrm>
            <a:off x="6108045" y="2940218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C4727149-B0C4-CD12-EE92-D05FF5BDA5C9}"/>
              </a:ext>
            </a:extLst>
          </p:cNvPr>
          <p:cNvSpPr/>
          <p:nvPr/>
        </p:nvSpPr>
        <p:spPr>
          <a:xfrm>
            <a:off x="6777165" y="2913411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A69A8263-84AE-BF93-50F5-DF1853C2DECA}"/>
              </a:ext>
            </a:extLst>
          </p:cNvPr>
          <p:cNvSpPr/>
          <p:nvPr/>
        </p:nvSpPr>
        <p:spPr>
          <a:xfrm>
            <a:off x="6791830" y="3155155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MAC layer for air interface</a:t>
            </a:r>
            <a:endParaRPr lang="en-US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E58E9FED-CA58-FBCD-31DB-3AB7E4D2462A}"/>
              </a:ext>
            </a:extLst>
          </p:cNvPr>
          <p:cNvSpPr/>
          <p:nvPr/>
        </p:nvSpPr>
        <p:spPr>
          <a:xfrm>
            <a:off x="1238211" y="3814739"/>
            <a:ext cx="614156" cy="611328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E53464A-31E5-FD26-56C4-3902FB9856AD}"/>
              </a:ext>
            </a:extLst>
          </p:cNvPr>
          <p:cNvSpPr/>
          <p:nvPr/>
        </p:nvSpPr>
        <p:spPr>
          <a:xfrm>
            <a:off x="1238211" y="3895584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D536FB33-D0BC-7598-8E91-1F069C30AD48}"/>
              </a:ext>
            </a:extLst>
          </p:cNvPr>
          <p:cNvSpPr/>
          <p:nvPr/>
        </p:nvSpPr>
        <p:spPr>
          <a:xfrm>
            <a:off x="1968132" y="3880844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</a:t>
            </a:r>
            <a:endParaRPr lang="en-US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3457447A-F169-A759-EE4D-4AF0C00476B7}"/>
              </a:ext>
            </a:extLst>
          </p:cNvPr>
          <p:cNvSpPr/>
          <p:nvPr/>
        </p:nvSpPr>
        <p:spPr>
          <a:xfrm>
            <a:off x="1968132" y="4127419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Receiver buffers and validates PDU</a:t>
            </a:r>
            <a:endParaRPr lang="en-US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ABE3968C-0305-374D-C232-4A5A9613C305}"/>
              </a:ext>
            </a:extLst>
          </p:cNvPr>
          <p:cNvSpPr/>
          <p:nvPr/>
        </p:nvSpPr>
        <p:spPr>
          <a:xfrm>
            <a:off x="6117525" y="3872736"/>
            <a:ext cx="614156" cy="559356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A95C5FAA-F1C0-2EFF-EF10-D0AA0A2DC362}"/>
              </a:ext>
            </a:extLst>
          </p:cNvPr>
          <p:cNvSpPr/>
          <p:nvPr/>
        </p:nvSpPr>
        <p:spPr>
          <a:xfrm>
            <a:off x="6141563" y="3880844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3935B5F4-9FAC-5A7C-BBB7-ECF73302969B}"/>
              </a:ext>
            </a:extLst>
          </p:cNvPr>
          <p:cNvSpPr/>
          <p:nvPr/>
        </p:nvSpPr>
        <p:spPr>
          <a:xfrm>
            <a:off x="6749880" y="3911960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</a:t>
            </a:r>
            <a:endParaRPr lang="en-US" dirty="0"/>
          </a:p>
        </p:txBody>
      </p:sp>
      <p:sp>
        <p:nvSpPr>
          <p:cNvPr id="32" name="Text 25">
            <a:extLst>
              <a:ext uri="{FF2B5EF4-FFF2-40B4-BE49-F238E27FC236}">
                <a16:creationId xmlns:a16="http://schemas.microsoft.com/office/drawing/2014/main" id="{0E640DFB-5EB2-23FF-5849-E89FD9665186}"/>
              </a:ext>
            </a:extLst>
          </p:cNvPr>
          <p:cNvSpPr/>
          <p:nvPr/>
        </p:nvSpPr>
        <p:spPr>
          <a:xfrm>
            <a:off x="6755719" y="4139081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consecutive PDUs to PDCP</a:t>
            </a:r>
            <a:endParaRPr lang="en-US" dirty="0"/>
          </a:p>
        </p:txBody>
      </p:sp>
      <p:sp>
        <p:nvSpPr>
          <p:cNvPr id="33" name="Shape 26">
            <a:extLst>
              <a:ext uri="{FF2B5EF4-FFF2-40B4-BE49-F238E27FC236}">
                <a16:creationId xmlns:a16="http://schemas.microsoft.com/office/drawing/2014/main" id="{FD34961E-69FE-233A-4EED-FAF51034E995}"/>
              </a:ext>
            </a:extLst>
          </p:cNvPr>
          <p:cNvSpPr/>
          <p:nvPr/>
        </p:nvSpPr>
        <p:spPr>
          <a:xfrm>
            <a:off x="1238211" y="4914994"/>
            <a:ext cx="614156" cy="61132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7E83E1CC-3E94-BB5C-A736-763D17A48FEE}"/>
              </a:ext>
            </a:extLst>
          </p:cNvPr>
          <p:cNvSpPr/>
          <p:nvPr/>
        </p:nvSpPr>
        <p:spPr>
          <a:xfrm>
            <a:off x="1238211" y="5008509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dirty="0"/>
          </a:p>
        </p:txBody>
      </p:sp>
      <p:sp>
        <p:nvSpPr>
          <p:cNvPr id="35" name="Text 28">
            <a:extLst>
              <a:ext uri="{FF2B5EF4-FFF2-40B4-BE49-F238E27FC236}">
                <a16:creationId xmlns:a16="http://schemas.microsoft.com/office/drawing/2014/main" id="{F66F5237-9916-AA0A-F8D5-8942D363FCB1}"/>
              </a:ext>
            </a:extLst>
          </p:cNvPr>
          <p:cNvSpPr/>
          <p:nvPr/>
        </p:nvSpPr>
        <p:spPr>
          <a:xfrm>
            <a:off x="1968132" y="5020615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dirty="0"/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837285FB-CC65-9F35-D83A-8BD50356EDE9}"/>
              </a:ext>
            </a:extLst>
          </p:cNvPr>
          <p:cNvSpPr/>
          <p:nvPr/>
        </p:nvSpPr>
        <p:spPr>
          <a:xfrm>
            <a:off x="1968132" y="5248656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ACK/NACK feedback</a:t>
            </a:r>
            <a:endParaRPr lang="en-US" dirty="0"/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61076CC2-0559-2C10-70E2-1B053340A16B}"/>
              </a:ext>
            </a:extLst>
          </p:cNvPr>
          <p:cNvSpPr/>
          <p:nvPr/>
        </p:nvSpPr>
        <p:spPr>
          <a:xfrm>
            <a:off x="6117525" y="4834258"/>
            <a:ext cx="614156" cy="611327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DFC6A590-8FF0-21C1-9398-AD5096F59123}"/>
              </a:ext>
            </a:extLst>
          </p:cNvPr>
          <p:cNvSpPr/>
          <p:nvPr/>
        </p:nvSpPr>
        <p:spPr>
          <a:xfrm>
            <a:off x="6163009" y="4892425"/>
            <a:ext cx="6141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dirty="0"/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56317C89-25EA-20B0-61A7-6ACA73B60A8C}"/>
              </a:ext>
            </a:extLst>
          </p:cNvPr>
          <p:cNvSpPr/>
          <p:nvPr/>
        </p:nvSpPr>
        <p:spPr>
          <a:xfrm>
            <a:off x="6749880" y="4875201"/>
            <a:ext cx="49132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Retransmission</a:t>
            </a:r>
            <a:endParaRPr lang="en-US" dirty="0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57E79ED9-1564-9988-3D01-A6CC8C8E65F1}"/>
              </a:ext>
            </a:extLst>
          </p:cNvPr>
          <p:cNvSpPr/>
          <p:nvPr/>
        </p:nvSpPr>
        <p:spPr>
          <a:xfrm>
            <a:off x="6749880" y="5140728"/>
            <a:ext cx="491325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Retransmit NACKed PDUs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90DB859-E10A-3BA1-6810-6F31BFE47661}"/>
              </a:ext>
            </a:extLst>
          </p:cNvPr>
          <p:cNvSpPr txBox="1"/>
          <p:nvPr/>
        </p:nvSpPr>
        <p:spPr>
          <a:xfrm>
            <a:off x="754396" y="1621410"/>
            <a:ext cx="10501208" cy="4402318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4914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E49FD-BB29-98D8-2D39-CC751D69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7B7CAD8-5EA7-78AE-D4EB-315938A65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9922855-C488-3E8A-1735-CF0DAAD4A73E}"/>
              </a:ext>
            </a:extLst>
          </p:cNvPr>
          <p:cNvSpPr txBox="1"/>
          <p:nvPr/>
        </p:nvSpPr>
        <p:spPr>
          <a:xfrm>
            <a:off x="4415330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AEDA5-1A0F-F13B-B5BD-8E1AAD5FA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9DC30C3-B02C-F0E7-4D98-99CB037350DA}"/>
              </a:ext>
            </a:extLst>
          </p:cNvPr>
          <p:cNvSpPr/>
          <p:nvPr/>
        </p:nvSpPr>
        <p:spPr>
          <a:xfrm>
            <a:off x="0" y="-1"/>
            <a:ext cx="12192000" cy="9644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394D387-6F3F-A4B8-7464-9ECF5C62DE5B}"/>
              </a:ext>
            </a:extLst>
          </p:cNvPr>
          <p:cNvSpPr/>
          <p:nvPr/>
        </p:nvSpPr>
        <p:spPr>
          <a:xfrm>
            <a:off x="457200" y="8061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Implementation Overview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7B843BD-285E-318B-1CA1-1BF7E8093D5D}"/>
              </a:ext>
            </a:extLst>
          </p:cNvPr>
          <p:cNvSpPr/>
          <p:nvPr/>
        </p:nvSpPr>
        <p:spPr>
          <a:xfrm>
            <a:off x="457200" y="1351357"/>
            <a:ext cx="11734800" cy="859532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E21E1A2F-AD80-CD82-7CDE-3466CB013D1C}"/>
              </a:ext>
            </a:extLst>
          </p:cNvPr>
          <p:cNvSpPr/>
          <p:nvPr/>
        </p:nvSpPr>
        <p:spPr>
          <a:xfrm>
            <a:off x="457200" y="1351358"/>
            <a:ext cx="91440" cy="85953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68456ADE-FF85-FB78-A77B-9D91C50CA541}"/>
              </a:ext>
            </a:extLst>
          </p:cNvPr>
          <p:cNvSpPr/>
          <p:nvPr/>
        </p:nvSpPr>
        <p:spPr>
          <a:xfrm>
            <a:off x="731520" y="160765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Data Structures &amp; Enums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49D79B1F-439B-2E2D-62A8-DDE12694927C}"/>
              </a:ext>
            </a:extLst>
          </p:cNvPr>
          <p:cNvSpPr/>
          <p:nvPr/>
        </p:nvSpPr>
        <p:spPr>
          <a:xfrm>
            <a:off x="731520" y="1980171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PollBit</a:t>
            </a:r>
            <a:r>
              <a:rPr lang="fr-FR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SDU, PDU, STATUS_PDU</a:t>
            </a:r>
            <a:endParaRPr lang="en-US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BE05F779-BECF-2E82-98DD-83CF64BE061E}"/>
              </a:ext>
            </a:extLst>
          </p:cNvPr>
          <p:cNvSpPr/>
          <p:nvPr/>
        </p:nvSpPr>
        <p:spPr>
          <a:xfrm>
            <a:off x="457200" y="2210889"/>
            <a:ext cx="11734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C3D3DCD-D876-525D-8B8E-137F3AA91779}"/>
              </a:ext>
            </a:extLst>
          </p:cNvPr>
          <p:cNvSpPr/>
          <p:nvPr/>
        </p:nvSpPr>
        <p:spPr>
          <a:xfrm>
            <a:off x="457200" y="2210889"/>
            <a:ext cx="91440" cy="914398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46629C69-313B-3B99-A2FD-66A091A4B9E8}"/>
              </a:ext>
            </a:extLst>
          </p:cNvPr>
          <p:cNvSpPr/>
          <p:nvPr/>
        </p:nvSpPr>
        <p:spPr>
          <a:xfrm>
            <a:off x="754396" y="24711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Configuration Parameters</a:t>
            </a:r>
            <a:endParaRPr lang="en-US" sz="20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E102C20-7384-6EE8-532F-8F65906D044F}"/>
              </a:ext>
            </a:extLst>
          </p:cNvPr>
          <p:cNvSpPr/>
          <p:nvPr/>
        </p:nvSpPr>
        <p:spPr>
          <a:xfrm>
            <a:off x="754396" y="2843971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RLC_AM_Config with 3GPP TS 38.331 compliance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BD6AD57F-C0AB-EADE-E556-DB1F2BF7BB26}"/>
              </a:ext>
            </a:extLst>
          </p:cNvPr>
          <p:cNvSpPr/>
          <p:nvPr/>
        </p:nvSpPr>
        <p:spPr>
          <a:xfrm>
            <a:off x="457200" y="3125288"/>
            <a:ext cx="11734800" cy="907985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DE57BDD5-C364-9FF5-AA1F-A426D8DE958F}"/>
              </a:ext>
            </a:extLst>
          </p:cNvPr>
          <p:cNvSpPr/>
          <p:nvPr/>
        </p:nvSpPr>
        <p:spPr>
          <a:xfrm>
            <a:off x="457200" y="3125289"/>
            <a:ext cx="91440" cy="895428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7642F87D-BD2A-5544-AB65-E885AA061395}"/>
              </a:ext>
            </a:extLst>
          </p:cNvPr>
          <p:cNvSpPr/>
          <p:nvPr/>
        </p:nvSpPr>
        <p:spPr>
          <a:xfrm>
            <a:off x="731520" y="33582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Transmitter Implementation</a:t>
            </a:r>
            <a:endParaRPr lang="en-US" sz="20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4DF5711-95A1-C7C6-E25B-F32B559C36A4}"/>
              </a:ext>
            </a:extLst>
          </p:cNvPr>
          <p:cNvSpPr/>
          <p:nvPr/>
        </p:nvSpPr>
        <p:spPr>
          <a:xfrm>
            <a:off x="754396" y="3711115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RLC_AM_Transmitter class with ARQ logic</a:t>
            </a:r>
            <a:endParaRPr lang="en-US" sz="16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34DF1ECE-70F6-F45F-2302-4304BE262CD7}"/>
              </a:ext>
            </a:extLst>
          </p:cNvPr>
          <p:cNvSpPr/>
          <p:nvPr/>
        </p:nvSpPr>
        <p:spPr>
          <a:xfrm>
            <a:off x="457200" y="4033274"/>
            <a:ext cx="11734800" cy="9307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DD3D3F6-5D65-44A8-86C9-F028556800F8}"/>
              </a:ext>
            </a:extLst>
          </p:cNvPr>
          <p:cNvSpPr/>
          <p:nvPr/>
        </p:nvSpPr>
        <p:spPr>
          <a:xfrm>
            <a:off x="457200" y="4033274"/>
            <a:ext cx="91440" cy="93078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69F11BC-8E86-9AC4-2381-FE5C73E097D8}"/>
              </a:ext>
            </a:extLst>
          </p:cNvPr>
          <p:cNvSpPr/>
          <p:nvPr/>
        </p:nvSpPr>
        <p:spPr>
          <a:xfrm>
            <a:off x="754396" y="4230149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Receiver Implementation</a:t>
            </a:r>
            <a:endParaRPr lang="en-US" sz="20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26AD32C5-7174-3CAC-1D6F-77CEAB09C84B}"/>
              </a:ext>
            </a:extLst>
          </p:cNvPr>
          <p:cNvSpPr/>
          <p:nvPr/>
        </p:nvSpPr>
        <p:spPr>
          <a:xfrm>
            <a:off x="731520" y="4567244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RLC_AM_Receiver</a:t>
            </a:r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class with in-order delivery and STATUS generation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FB66DDAE-87C0-4B44-6737-EE302A2D4857}"/>
              </a:ext>
            </a:extLst>
          </p:cNvPr>
          <p:cNvSpPr/>
          <p:nvPr/>
        </p:nvSpPr>
        <p:spPr>
          <a:xfrm>
            <a:off x="457200" y="4976611"/>
            <a:ext cx="11734800" cy="891605"/>
          </a:xfrm>
          <a:prstGeom prst="rect">
            <a:avLst/>
          </a:prstGeom>
          <a:solidFill>
            <a:srgbClr val="F5F5F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C07B4E7-A921-8C78-00B7-0021B749C5EA}"/>
              </a:ext>
            </a:extLst>
          </p:cNvPr>
          <p:cNvSpPr/>
          <p:nvPr/>
        </p:nvSpPr>
        <p:spPr>
          <a:xfrm>
            <a:off x="457200" y="4976612"/>
            <a:ext cx="91440" cy="89160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2EF7F650-9CF2-936B-BFC0-8D0DB844913F}"/>
              </a:ext>
            </a:extLst>
          </p:cNvPr>
          <p:cNvSpPr/>
          <p:nvPr/>
        </p:nvSpPr>
        <p:spPr>
          <a:xfrm>
            <a:off x="754396" y="519319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Main Simulation</a:t>
            </a:r>
            <a:endParaRPr lang="en-US" sz="20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9A1A2ABD-1F1C-895C-C092-FFE9AF39CFBD}"/>
              </a:ext>
            </a:extLst>
          </p:cNvPr>
          <p:cNvSpPr/>
          <p:nvPr/>
        </p:nvSpPr>
        <p:spPr>
          <a:xfrm>
            <a:off x="731520" y="5530293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ARQ process orchestration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288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827F-8883-381F-11E4-7A2567C92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A46025D-9EB6-1343-9A2D-E50B7432F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0F09916-41FC-DB74-D62C-1946F8E04B25}"/>
              </a:ext>
            </a:extLst>
          </p:cNvPr>
          <p:cNvSpPr txBox="1"/>
          <p:nvPr/>
        </p:nvSpPr>
        <p:spPr>
          <a:xfrm>
            <a:off x="4560997" y="660935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7F6C-EFEF-9595-6D58-EEF71B992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1C07B5E-E197-B16B-AAC9-541EBE6A7522}"/>
              </a:ext>
            </a:extLst>
          </p:cNvPr>
          <p:cNvSpPr/>
          <p:nvPr/>
        </p:nvSpPr>
        <p:spPr>
          <a:xfrm>
            <a:off x="0" y="-1"/>
            <a:ext cx="12192000" cy="9787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6CC72B60-A9A8-375C-F271-99FF8FFE0B53}"/>
              </a:ext>
            </a:extLst>
          </p:cNvPr>
          <p:cNvSpPr/>
          <p:nvPr/>
        </p:nvSpPr>
        <p:spPr>
          <a:xfrm>
            <a:off x="549270" y="137160"/>
            <a:ext cx="54739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Structures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83703281-5072-9B4E-6A2A-2C804F8ECE53}"/>
              </a:ext>
            </a:extLst>
          </p:cNvPr>
          <p:cNvSpPr/>
          <p:nvPr/>
        </p:nvSpPr>
        <p:spPr>
          <a:xfrm>
            <a:off x="1349587" y="1600200"/>
            <a:ext cx="4114800" cy="1920240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281703E-03C6-7AE4-BF2B-A26FB69ADACB}"/>
              </a:ext>
            </a:extLst>
          </p:cNvPr>
          <p:cNvSpPr/>
          <p:nvPr/>
        </p:nvSpPr>
        <p:spPr>
          <a:xfrm>
            <a:off x="1532467" y="1554985"/>
            <a:ext cx="5457862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u="sng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PollBit</a:t>
            </a:r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(Polling Field)</a:t>
            </a:r>
            <a:endParaRPr lang="en-US" sz="20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D2A9C3FA-59C5-8CD7-BB8F-4235C924AE46}"/>
              </a:ext>
            </a:extLst>
          </p:cNvPr>
          <p:cNvSpPr/>
          <p:nvPr/>
        </p:nvSpPr>
        <p:spPr>
          <a:xfrm>
            <a:off x="1545260" y="2201344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P_NOT_SET = 0</a:t>
            </a:r>
          </a:p>
          <a:p>
            <a:pPr>
              <a:lnSpc>
                <a:spcPts val="1800"/>
              </a:lnSpc>
            </a:pPr>
            <a:endParaRPr lang="en-US" dirty="0">
              <a:solidFill>
                <a:srgbClr val="FFFFFF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P_SET     = 1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3997A90F-A332-2ED7-894F-46AE2E93E934}"/>
              </a:ext>
            </a:extLst>
          </p:cNvPr>
          <p:cNvSpPr/>
          <p:nvPr/>
        </p:nvSpPr>
        <p:spPr>
          <a:xfrm>
            <a:off x="6936889" y="1600200"/>
            <a:ext cx="3931920" cy="1920240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2D80DFF-6DB3-ED3A-92AD-4C22876E65BF}"/>
              </a:ext>
            </a:extLst>
          </p:cNvPr>
          <p:cNvSpPr/>
          <p:nvPr/>
        </p:nvSpPr>
        <p:spPr>
          <a:xfrm>
            <a:off x="7149686" y="1554985"/>
            <a:ext cx="5191625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AMD_PDU_Header</a:t>
            </a:r>
            <a:endParaRPr lang="en-US" sz="2000" u="sng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83C31190-EE48-C3A9-7BF6-4402E5D93810}"/>
              </a:ext>
            </a:extLst>
          </p:cNvPr>
          <p:cNvSpPr/>
          <p:nvPr/>
        </p:nvSpPr>
        <p:spPr>
          <a:xfrm>
            <a:off x="4937760" y="16459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6820684F-9CE1-9146-4594-216B99CED440}"/>
              </a:ext>
            </a:extLst>
          </p:cNvPr>
          <p:cNvSpPr/>
          <p:nvPr/>
        </p:nvSpPr>
        <p:spPr>
          <a:xfrm>
            <a:off x="1349587" y="3949699"/>
            <a:ext cx="4114800" cy="2039621"/>
          </a:xfrm>
          <a:prstGeom prst="rect">
            <a:avLst/>
          </a:prstGeom>
          <a:ln/>
          <a:effectLst>
            <a:innerShdw blurRad="114300">
              <a:prstClr val="black"/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5EA12A08-DC5F-8C96-825F-1F5DE165FDB1}"/>
              </a:ext>
            </a:extLst>
          </p:cNvPr>
          <p:cNvSpPr/>
          <p:nvPr/>
        </p:nvSpPr>
        <p:spPr>
          <a:xfrm>
            <a:off x="1532467" y="3964781"/>
            <a:ext cx="3761833" cy="704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SDU (Service Data Unit)</a:t>
            </a:r>
            <a:endParaRPr lang="en-US" sz="2000" b="1" u="sng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0081B61-6947-2F9B-DD05-717C8C431B3E}"/>
              </a:ext>
            </a:extLst>
          </p:cNvPr>
          <p:cNvSpPr/>
          <p:nvPr/>
        </p:nvSpPr>
        <p:spPr>
          <a:xfrm>
            <a:off x="640080" y="35661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F81251-B446-0CFC-69F6-893F57A8F46D}"/>
              </a:ext>
            </a:extLst>
          </p:cNvPr>
          <p:cNvSpPr txBox="1"/>
          <p:nvPr/>
        </p:nvSpPr>
        <p:spPr>
          <a:xfrm>
            <a:off x="6936888" y="3949698"/>
            <a:ext cx="3931920" cy="2039621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05E548-53F1-CC33-5BA1-9C32B247E1F5}"/>
              </a:ext>
            </a:extLst>
          </p:cNvPr>
          <p:cNvSpPr txBox="1"/>
          <p:nvPr/>
        </p:nvSpPr>
        <p:spPr>
          <a:xfrm>
            <a:off x="1558838" y="4684315"/>
            <a:ext cx="270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id   : SDU identifier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: Size of data from PDCP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33002-C91E-1E46-160F-D176A486D7A4}"/>
              </a:ext>
            </a:extLst>
          </p:cNvPr>
          <p:cNvSpPr txBox="1"/>
          <p:nvPr/>
        </p:nvSpPr>
        <p:spPr>
          <a:xfrm>
            <a:off x="7124494" y="4058622"/>
            <a:ext cx="4427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STATUS_PDU (ARQ Feedback)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D2C89C-E343-9C64-9F8C-EA598AB68F18}"/>
              </a:ext>
            </a:extLst>
          </p:cNvPr>
          <p:cNvSpPr txBox="1"/>
          <p:nvPr/>
        </p:nvSpPr>
        <p:spPr>
          <a:xfrm>
            <a:off x="7149686" y="4519136"/>
            <a:ext cx="3244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ack_sn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: All SNs below this are acknowledged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nacks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List of missing SNs for retransmission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3DCB5-715E-503F-5173-EE7CC710281B}"/>
              </a:ext>
            </a:extLst>
          </p:cNvPr>
          <p:cNvSpPr txBox="1"/>
          <p:nvPr/>
        </p:nvSpPr>
        <p:spPr>
          <a:xfrm>
            <a:off x="7124494" y="2031801"/>
            <a:ext cx="33121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sn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  : Sequence Number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poll  : Polling flag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size  : SDU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retx</a:t>
            </a:r>
            <a:r>
              <a:rPr lang="en-US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: Retransmission 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620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7157-78A8-DCBD-6BAB-60BB0EBA8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B4865D2-5FB1-59ED-09D0-A00CB875F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FB33E7F-3286-1E6F-0161-E2EBA1FE7CA9}"/>
              </a:ext>
            </a:extLst>
          </p:cNvPr>
          <p:cNvSpPr txBox="1"/>
          <p:nvPr/>
        </p:nvSpPr>
        <p:spPr>
          <a:xfrm>
            <a:off x="4339915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0E048-75C0-BB49-FE1E-C8F02F785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55696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F6AF5B8-4899-B3B4-0918-1C1C936BC6D5}"/>
              </a:ext>
            </a:extLst>
          </p:cNvPr>
          <p:cNvSpPr/>
          <p:nvPr/>
        </p:nvSpPr>
        <p:spPr>
          <a:xfrm>
            <a:off x="0" y="-1"/>
            <a:ext cx="12192000" cy="10180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0AA18E37-26B3-BBEC-3340-0923B5A0AD30}"/>
              </a:ext>
            </a:extLst>
          </p:cNvPr>
          <p:cNvSpPr/>
          <p:nvPr/>
        </p:nvSpPr>
        <p:spPr>
          <a:xfrm>
            <a:off x="431513" y="136525"/>
            <a:ext cx="8229600" cy="7315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AM Configuration Parameters</a:t>
            </a:r>
            <a:endParaRPr lang="en-US" sz="4400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55851A6-608C-962E-D270-5107645B0F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981447"/>
              </p:ext>
            </p:extLst>
          </p:nvPr>
        </p:nvGraphicFramePr>
        <p:xfrm>
          <a:off x="1102936" y="1291472"/>
          <a:ext cx="9747315" cy="4637988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3249105">
                  <a:extLst>
                    <a:ext uri="{9D8B030D-6E8A-4147-A177-3AD203B41FA5}">
                      <a16:colId xmlns:a16="http://schemas.microsoft.com/office/drawing/2014/main" val="1119727343"/>
                    </a:ext>
                  </a:extLst>
                </a:gridCol>
                <a:gridCol w="3249105">
                  <a:extLst>
                    <a:ext uri="{9D8B030D-6E8A-4147-A177-3AD203B41FA5}">
                      <a16:colId xmlns:a16="http://schemas.microsoft.com/office/drawing/2014/main" val="2090574731"/>
                    </a:ext>
                  </a:extLst>
                </a:gridCol>
                <a:gridCol w="3249105">
                  <a:extLst>
                    <a:ext uri="{9D8B030D-6E8A-4147-A177-3AD203B41FA5}">
                      <a16:colId xmlns:a16="http://schemas.microsoft.com/office/drawing/2014/main" val="901597235"/>
                    </a:ext>
                  </a:extLst>
                </a:gridCol>
              </a:tblGrid>
              <a:tr h="541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Parameter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4188039"/>
                  </a:ext>
                </a:extLst>
              </a:tr>
              <a:tr h="1202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total_sdus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Number of SDUs submitted from PDCP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7531366"/>
                  </a:ext>
                </a:extLst>
              </a:tr>
              <a:tr h="84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pollPDU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Trigger poll after every 4 PDUs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2944792"/>
                  </a:ext>
                </a:extLst>
              </a:tr>
              <a:tr h="1202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maxRetx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Maximum retransmission attempts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1852372"/>
                  </a:ext>
                </a:extLst>
              </a:tr>
              <a:tr h="8459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error_rate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Simulated channel packet loss 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3275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90393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1FCB2-23A0-AFA1-0FD8-D19BF812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85A6ACC-2A33-5BA5-F83E-FFB002206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685C593-97B7-3C15-E63F-E75891C8B053}"/>
              </a:ext>
            </a:extLst>
          </p:cNvPr>
          <p:cNvSpPr txBox="1"/>
          <p:nvPr/>
        </p:nvSpPr>
        <p:spPr>
          <a:xfrm>
            <a:off x="4424756" y="6595790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51FB1-5E6F-9B94-67E9-7C44EF5E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1330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28B3CDAB-E4A0-5615-7970-734222AF389D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36B2048-568C-F3DB-1F07-C52A49A21F4A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20BA5E3-8303-89C1-23D5-F07362298AFC}"/>
              </a:ext>
            </a:extLst>
          </p:cNvPr>
          <p:cNvSpPr/>
          <p:nvPr/>
        </p:nvSpPr>
        <p:spPr>
          <a:xfrm>
            <a:off x="1828800" y="2560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www.cafetele.com</a:t>
            </a:r>
            <a:endParaRPr lang="en-US" sz="24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3EAF6D61-C930-C82A-E506-7E664FE4056F}"/>
              </a:ext>
            </a:extLst>
          </p:cNvPr>
          <p:cNvSpPr/>
          <p:nvPr/>
        </p:nvSpPr>
        <p:spPr>
          <a:xfrm>
            <a:off x="182880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Training in: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3BD7D0E-8E59-828A-C2A4-939FEB79F9E7}"/>
              </a:ext>
            </a:extLst>
          </p:cNvPr>
          <p:cNvSpPr/>
          <p:nvPr/>
        </p:nvSpPr>
        <p:spPr>
          <a:xfrm>
            <a:off x="18288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4G/5G • O-RAN • AI/ML • Network Optimization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795474-35E9-B0CA-F16B-E1630585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3692"/>
            <a:ext cx="6066168" cy="535531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D562E3D-0D5A-A8D7-2A15-68C2804CCA3D}"/>
              </a:ext>
            </a:extLst>
          </p:cNvPr>
          <p:cNvSpPr txBox="1"/>
          <p:nvPr/>
        </p:nvSpPr>
        <p:spPr>
          <a:xfrm>
            <a:off x="6066168" y="967233"/>
            <a:ext cx="612583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01</a:t>
            </a:r>
          </a:p>
          <a:p>
            <a:pPr lvl="3"/>
            <a:endParaRPr lang="en-US" b="1" u="sng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enum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keyword is used to create an enumeration named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with two values,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P_NOT_SET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P_SET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mapped to 0 and 1, which helps replace numeric values with meaningful names and improves readability.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struct keyword is used to define custom data types.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two integers id and size to represent data identity and length.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PDU</a:t>
            </a:r>
            <a:r>
              <a:rPr lang="en-US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a sequence number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PollBit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poll</a:t>
            </a:r>
            <a:r>
              <a:rPr lang="en-US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value, a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size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= 0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initialize retransmissions.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STATUS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contains an acknowledged sequence number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ack_sn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a </a:t>
            </a:r>
            <a:r>
              <a:rPr lang="en-US" b="1" i="1" dirty="0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vector&lt;int&gt; </a:t>
            </a:r>
            <a:r>
              <a:rPr lang="en-US" b="1" i="1" dirty="0" err="1">
                <a:solidFill>
                  <a:schemeClr val="accent1">
                    <a:lumMod val="50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nacks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where vector is a dynamic array that stores multiple integers. 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9883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20A68-2299-6157-D8E1-09F05F165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992A4E5-1E9C-5206-C107-B8E0E1CEE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60803B30-F56F-4FCA-E793-D106D794772A}"/>
              </a:ext>
            </a:extLst>
          </p:cNvPr>
          <p:cNvSpPr txBox="1"/>
          <p:nvPr/>
        </p:nvSpPr>
        <p:spPr>
          <a:xfrm>
            <a:off x="4471891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6FCC9-AA59-0B41-1C20-F8D65C28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0170" y="649946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09C8B4F-FF13-89EA-E5D8-E849050E4BBB}"/>
              </a:ext>
            </a:extLst>
          </p:cNvPr>
          <p:cNvSpPr/>
          <p:nvPr/>
        </p:nvSpPr>
        <p:spPr>
          <a:xfrm>
            <a:off x="0" y="-14553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346C356E-7DD2-0ABA-1B94-ADB24C8A7CB9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5FAFA4-DC5B-7162-56E3-DC652D2A2D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31709"/>
            <a:ext cx="5816338" cy="53908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EAD199-8DAA-8107-9FB8-3D04A4DF55B5}"/>
              </a:ext>
            </a:extLst>
          </p:cNvPr>
          <p:cNvSpPr txBox="1"/>
          <p:nvPr/>
        </p:nvSpPr>
        <p:spPr>
          <a:xfrm>
            <a:off x="5816338" y="951487"/>
            <a:ext cx="6375661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02</a:t>
            </a: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a Config structure that stores simulation settings like total data units, polling interval, maximum retransmissions, and error rate, with default values assigned using =. The statement Config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cfg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; creates an object to access these settings throughout the program.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</a:t>
            </a:r>
            <a:r>
              <a:rPr lang="en-US" alt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print_separator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formats the output using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and </a:t>
            </a:r>
            <a:r>
              <a:rPr lang="en-US" altLang="en-US" dirty="0" err="1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endl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while const string&amp; avoids unnecessary copying. The </a:t>
            </a:r>
            <a:r>
              <a:rPr lang="en-US" alt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channel_success</a:t>
            </a:r>
            <a:r>
              <a:rPr lang="en-US" alt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dirty="0">
                <a:solidFill>
                  <a:schemeClr val="bg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function uses bool and If conditions to simulate transmission failure for specific sequence numbers and returns true or false.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10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DBA6B-236E-B244-B58E-72CCB5361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8998A70-C161-BAC0-EDCD-F36872451A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5C4263B-E98C-9EEA-06AE-0DF02EE7CD0C}"/>
              </a:ext>
            </a:extLst>
          </p:cNvPr>
          <p:cNvSpPr txBox="1"/>
          <p:nvPr/>
        </p:nvSpPr>
        <p:spPr>
          <a:xfrm>
            <a:off x="437935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9E4D7-AFF5-D09E-FFDB-C18B4CD9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76681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FC88736-79D1-446B-FA2E-78EACC68FDAD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4CE740B-DD03-4DEC-0636-3F55F8F685AC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42D67A-6C1E-CE09-5525-0889D688EC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4"/>
            <a:ext cx="6369798" cy="5355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C3E929-101F-832A-2811-13BA305A760A}"/>
              </a:ext>
            </a:extLst>
          </p:cNvPr>
          <p:cNvSpPr txBox="1"/>
          <p:nvPr/>
        </p:nvSpPr>
        <p:spPr>
          <a:xfrm>
            <a:off x="6369798" y="967233"/>
            <a:ext cx="582220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4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03</a:t>
            </a: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sender side of communication. The private part stores internal data like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tx_buffer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sent packets,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retx_queue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for retransmissions, and variables such as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TX_SN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poll_counter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 track sequence numbers and statistics, which are hidden from outside access.</a:t>
            </a: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public part contains usable functions like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build_pdu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creates a PDU from an SDU and decides when to trigger polling. The const SDU&amp; avoids copying data, bool&amp; poll allows updating the poll flag, and the if condition checks the threshold and prints a message using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.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9929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1A8E8-F264-C426-F0DE-833B4B753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5F298CCE-CA21-C408-0476-CC354B186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63044E3-AE16-E319-557D-7F959173E1E7}"/>
              </a:ext>
            </a:extLst>
          </p:cNvPr>
          <p:cNvSpPr txBox="1"/>
          <p:nvPr/>
        </p:nvSpPr>
        <p:spPr>
          <a:xfrm>
            <a:off x="444361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AF94E-B633-C946-2ED5-410A0693B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A3B745BB-80EE-E6A5-4D7C-7BC1865F85C7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585B172-55E7-8196-EEAF-55D33ED7C2C3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59C00D-F366-74FD-1C1B-89DB1A4B6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4"/>
            <a:ext cx="5686218" cy="53553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0107A1-BD90-7866-806B-0C6F2C236E31}"/>
              </a:ext>
            </a:extLst>
          </p:cNvPr>
          <p:cNvSpPr txBox="1"/>
          <p:nvPr/>
        </p:nvSpPr>
        <p:spPr>
          <a:xfrm>
            <a:off x="5686218" y="967233"/>
            <a:ext cx="6505782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04</a:t>
            </a:r>
          </a:p>
          <a:p>
            <a:pPr lvl="4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defines the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class, which represents the receiving side. Inside the private section,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map&lt;int, PDU&gt;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stores incoming packets in sequence order. Variables like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total_rx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track the expected next packet and statistics. Keeping these variables private ensures they are only modified inside the class.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receive function processes incoming PDUs. It prints the received sequence number using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stores the packet in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rx_buffer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counter using ++. The while loop checks if the next expected packet is available using count(). If available, it delivers the packet in order, removes it using erase(), updates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RX_NEXT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increases the delivered count.</a:t>
            </a: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390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3C391-1CF5-C6C9-DEE4-820D64787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0A107C9-6A4F-2BC0-FF74-CA6CC2A44E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852A7F5-C921-E841-1C9C-93904E9A0CE7}"/>
              </a:ext>
            </a:extLst>
          </p:cNvPr>
          <p:cNvSpPr txBox="1"/>
          <p:nvPr/>
        </p:nvSpPr>
        <p:spPr>
          <a:xfrm>
            <a:off x="4415330" y="6623846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E043F-8A82-30C9-88A6-BCC04ACA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C0B2ABBD-E258-188E-F418-3866FAA91091}"/>
              </a:ext>
            </a:extLst>
          </p:cNvPr>
          <p:cNvSpPr/>
          <p:nvPr/>
        </p:nvSpPr>
        <p:spPr>
          <a:xfrm>
            <a:off x="0" y="-6460"/>
            <a:ext cx="12192000" cy="9736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8305DA2-B93C-0259-8334-B2A1BCCCC953}"/>
              </a:ext>
            </a:extLst>
          </p:cNvPr>
          <p:cNvSpPr/>
          <p:nvPr/>
        </p:nvSpPr>
        <p:spPr>
          <a:xfrm>
            <a:off x="431513" y="98508"/>
            <a:ext cx="302429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Code</a:t>
            </a:r>
            <a:endParaRPr lang="en-US" sz="4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297F97-5BE1-7486-AD79-EB166E244E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232"/>
            <a:ext cx="5863472" cy="53553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C597EE-1E1D-585E-ECB6-5D54C77CD33D}"/>
              </a:ext>
            </a:extLst>
          </p:cNvPr>
          <p:cNvSpPr txBox="1"/>
          <p:nvPr/>
        </p:nvSpPr>
        <p:spPr>
          <a:xfrm>
            <a:off x="5863472" y="967233"/>
            <a:ext cx="6328528" cy="535531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lvl="5"/>
            <a:r>
              <a:rPr lang="en-US" b="1" u="sng" dirty="0">
                <a:solidFill>
                  <a:srgbClr val="002060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Phase : 05</a:t>
            </a:r>
          </a:p>
          <a:p>
            <a:pPr lvl="3"/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This section contains the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main() function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which is the entry point of the C++ program. Execution always starts from int main(). The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cout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statements print the program title and description using formatted text. The 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vector&lt;SDU&gt;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sdus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creates a dynamic list to store all data units to be sent during the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Next, objects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RLC_Transmitter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tx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and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RLC_Receiver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rx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are created to handle sending and receiving operations. The variable </a:t>
            </a:r>
            <a:r>
              <a:rPr lang="en-US" b="1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total_delivered</a:t>
            </a:r>
            <a:r>
              <a:rPr lang="en-US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is used to track how many packets are successfully received. This section controls the overall flow of the program and connects all previous components to run the complete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132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220F-3A28-71C9-0DB2-828976917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8391C27-0FDA-C015-03B6-BDE527A5F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31F1014-D3D3-A1D2-61EE-C25B476E4EBC}"/>
              </a:ext>
            </a:extLst>
          </p:cNvPr>
          <p:cNvSpPr txBox="1"/>
          <p:nvPr/>
        </p:nvSpPr>
        <p:spPr>
          <a:xfrm>
            <a:off x="4475478" y="6601142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E0CF-5652-5C99-22AA-E1A308B1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hape 0">
            <a:extLst>
              <a:ext uri="{FF2B5EF4-FFF2-40B4-BE49-F238E27FC236}">
                <a16:creationId xmlns:a16="http://schemas.microsoft.com/office/drawing/2014/main" id="{9E021A18-17C9-92AE-2387-6081406B5B87}"/>
              </a:ext>
            </a:extLst>
          </p:cNvPr>
          <p:cNvSpPr/>
          <p:nvPr/>
        </p:nvSpPr>
        <p:spPr>
          <a:xfrm>
            <a:off x="0" y="0"/>
            <a:ext cx="12192000" cy="9803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96A85E7D-91E1-0602-E6E1-9B206220087B}"/>
              </a:ext>
            </a:extLst>
          </p:cNvPr>
          <p:cNvSpPr/>
          <p:nvPr/>
        </p:nvSpPr>
        <p:spPr>
          <a:xfrm>
            <a:off x="542042" y="10055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48CE5CF7-4DC9-55AB-B763-15D7A63F4CC9}"/>
              </a:ext>
            </a:extLst>
          </p:cNvPr>
          <p:cNvSpPr/>
          <p:nvPr/>
        </p:nvSpPr>
        <p:spPr>
          <a:xfrm>
            <a:off x="0" y="980387"/>
            <a:ext cx="12192000" cy="5324137"/>
          </a:xfrm>
          <a:prstGeom prst="rect">
            <a:avLst/>
          </a:prstGeom>
          <a:solidFill>
            <a:srgbClr val="1A1A1A"/>
          </a:solidFill>
          <a:ln w="25400">
            <a:solidFill>
              <a:srgbClr val="00D9FF"/>
            </a:solidFill>
            <a:prstDash val="solid"/>
          </a:ln>
        </p:spPr>
        <p:txBody>
          <a:bodyPr/>
          <a:lstStyle/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774D2-5C0F-0B60-498C-A1D66F2C25C5}"/>
              </a:ext>
            </a:extLst>
          </p:cNvPr>
          <p:cNvSpPr txBox="1"/>
          <p:nvPr/>
        </p:nvSpPr>
        <p:spPr>
          <a:xfrm>
            <a:off x="666817" y="1761881"/>
            <a:ext cx="2817644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1: SDU Submission from PDCP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[TX] SDU #1 received from PDCP (150 bytes)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E15C1D-EA3F-0A06-5B20-6362B14C057B}"/>
              </a:ext>
            </a:extLst>
          </p:cNvPr>
          <p:cNvSpPr txBox="1"/>
          <p:nvPr/>
        </p:nvSpPr>
        <p:spPr>
          <a:xfrm>
            <a:off x="641824" y="3728707"/>
            <a:ext cx="2842635" cy="175432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PHASE 2: Initial Transmission &amp; Channel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#0 received from PDCP (100 bytes)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SDU #1 received from PDCP (150 bytes)</a:t>
            </a:r>
          </a:p>
          <a:p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0BCCDD-1E64-676B-F22E-8D6D9B70EB7C}"/>
              </a:ext>
            </a:extLst>
          </p:cNvPr>
          <p:cNvSpPr txBox="1"/>
          <p:nvPr/>
        </p:nvSpPr>
        <p:spPr>
          <a:xfrm>
            <a:off x="7436280" y="1632382"/>
            <a:ext cx="3084033" cy="13849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 PHASE 3: STATUS Report Generation (ARQ)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  [RX] STATUS PDU: ACK_SN=1, NACKs=[1,4]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Processing STATUS: ACK_SN=1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SN=0 </a:t>
            </a:r>
            <a:r>
              <a:rPr lang="en-IN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[TX] SN=2 </a:t>
            </a:r>
            <a:r>
              <a:rPr lang="en-IN" sz="1200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ACKed</a:t>
            </a:r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- removed from buffer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9A3783-36BB-DBD2-1036-3F7B9DA500F5}"/>
              </a:ext>
            </a:extLst>
          </p:cNvPr>
          <p:cNvSpPr txBox="1"/>
          <p:nvPr/>
        </p:nvSpPr>
        <p:spPr>
          <a:xfrm>
            <a:off x="7436280" y="3442025"/>
            <a:ext cx="3298600" cy="193899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4: ARQ Retransmissions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--- Retransmission Round 1 ---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[TX] Retransmitting SN=1 (attempt 1)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[CH] SN=1 &gt;&gt;&gt; Successfully received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Received SN=1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SN=1 to PDCP (in-order)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SN=2 to PDCP (in-order)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[RX] Delivering SN=3 to PDCP (in-order)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619A8-A41B-BC2A-CCF6-8A2832893224}"/>
              </a:ext>
            </a:extLst>
          </p:cNvPr>
          <p:cNvSpPr txBox="1"/>
          <p:nvPr/>
        </p:nvSpPr>
        <p:spPr>
          <a:xfrm>
            <a:off x="4300874" y="2291418"/>
            <a:ext cx="2318993" cy="286232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PHASE 5: Simulation Statistics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==========================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    SIMULATION RESULTS      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SDUs Submitted: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PDUs Sent:          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Retransmissions: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Total Polls Sent:            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PDUs Received (Rx):      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SDUs Delivered (PDCP):     8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STATUS PDUs Sent:            2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| Channel Error Rate:      25% |</a:t>
            </a:r>
          </a:p>
          <a:p>
            <a:r>
              <a:rPr lang="en-IN" sz="12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 +------------------------------+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32E540-81A3-436E-9164-F92F78C22738}"/>
              </a:ext>
            </a:extLst>
          </p:cNvPr>
          <p:cNvSpPr txBox="1"/>
          <p:nvPr/>
        </p:nvSpPr>
        <p:spPr>
          <a:xfrm>
            <a:off x="641825" y="1174580"/>
            <a:ext cx="365904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Results (25% packet loss)</a:t>
            </a:r>
            <a:endParaRPr lang="en-US" dirty="0">
              <a:solidFill>
                <a:srgbClr val="FFC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3814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17DE-ACFA-02A9-F0A1-074738D7B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DF2C750-E083-C26D-A872-2F799343F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7E196BC-562E-2A6B-A94F-7D7E44743488}"/>
              </a:ext>
            </a:extLst>
          </p:cNvPr>
          <p:cNvSpPr txBox="1"/>
          <p:nvPr/>
        </p:nvSpPr>
        <p:spPr>
          <a:xfrm>
            <a:off x="4424756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B647D-63BD-871A-3BBB-C4B2DC66A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8302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7965A32E-CCAB-8D7A-8455-CACAB547531A}"/>
              </a:ext>
            </a:extLst>
          </p:cNvPr>
          <p:cNvSpPr/>
          <p:nvPr/>
        </p:nvSpPr>
        <p:spPr>
          <a:xfrm>
            <a:off x="0" y="0"/>
            <a:ext cx="12192000" cy="10558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2570878C-0DFD-67F5-9546-47120B54E8BD}"/>
              </a:ext>
            </a:extLst>
          </p:cNvPr>
          <p:cNvSpPr/>
          <p:nvPr/>
        </p:nvSpPr>
        <p:spPr>
          <a:xfrm>
            <a:off x="361178" y="0"/>
            <a:ext cx="7193280" cy="10558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and Limitations</a:t>
            </a:r>
            <a:endParaRPr lang="en-US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147DC7-EE96-A613-A183-AA9546CA0F02}"/>
              </a:ext>
            </a:extLst>
          </p:cNvPr>
          <p:cNvSpPr txBox="1"/>
          <p:nvPr/>
        </p:nvSpPr>
        <p:spPr>
          <a:xfrm>
            <a:off x="1253765" y="1863218"/>
            <a:ext cx="4128940" cy="378565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000" b="1" i="1" u="sng" dirty="0">
              <a:solidFill>
                <a:schemeClr val="bg1"/>
              </a:solidFill>
            </a:endParaRPr>
          </a:p>
          <a:p>
            <a:pPr lvl="2"/>
            <a:r>
              <a:rPr lang="en-US" sz="2000" b="1" i="1" u="sng" dirty="0">
                <a:solidFill>
                  <a:schemeClr val="bg1"/>
                </a:solidFill>
              </a:rPr>
              <a:t>Advantages</a:t>
            </a:r>
          </a:p>
          <a:p>
            <a:endParaRPr lang="en-US" sz="2000" b="1" i="1" u="sng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Ensures reliable data delivery  in lossy channels.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Follows 3GPP standard specifications.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Easy to modify parameters for experiments.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Improves understanding of 5G protocol behavior.</a:t>
            </a:r>
          </a:p>
          <a:p>
            <a:endParaRPr lang="en-IN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C77A71-0927-A374-46D0-4CED32264F4E}"/>
              </a:ext>
            </a:extLst>
          </p:cNvPr>
          <p:cNvSpPr txBox="1"/>
          <p:nvPr/>
        </p:nvSpPr>
        <p:spPr>
          <a:xfrm>
            <a:off x="6930272" y="1863218"/>
            <a:ext cx="4128940" cy="3785652"/>
          </a:xfrm>
          <a:prstGeom prst="rect">
            <a:avLst/>
          </a:prstGeom>
          <a:effectLst>
            <a:innerShdw blurRad="114300">
              <a:prstClr val="black"/>
            </a:inn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sz="2000" b="1" i="1" u="sng" dirty="0">
              <a:solidFill>
                <a:schemeClr val="bg1"/>
              </a:solidFill>
            </a:endParaRPr>
          </a:p>
          <a:p>
            <a:pPr lvl="3"/>
            <a:r>
              <a:rPr lang="en-US" sz="2000" b="1" i="1" u="sng" dirty="0">
                <a:solidFill>
                  <a:schemeClr val="bg1"/>
                </a:solidFill>
              </a:rPr>
              <a:t>Limitations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• Timers are logically simulated, not real-time.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HARQ mechanism is not included.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Graphical visualization is not available.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• Only single-user scenario is implemented.</a:t>
            </a:r>
          </a:p>
          <a:p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739102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0FDA0-FB0C-A2ED-F7F8-9AC367546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8C09CF1-18E5-A82E-1802-91F7F6DA1D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2338C4D0-BBA7-1ADB-BCFB-F2D41C780929}"/>
              </a:ext>
            </a:extLst>
          </p:cNvPr>
          <p:cNvSpPr txBox="1"/>
          <p:nvPr/>
        </p:nvSpPr>
        <p:spPr>
          <a:xfrm>
            <a:off x="4434184" y="6615863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53B8F-76E3-D79E-64AD-19DF6876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6DE8CC41-8154-7F6F-C0CC-5101DED66013}"/>
              </a:ext>
            </a:extLst>
          </p:cNvPr>
          <p:cNvSpPr/>
          <p:nvPr/>
        </p:nvSpPr>
        <p:spPr>
          <a:xfrm>
            <a:off x="0" y="-1"/>
            <a:ext cx="12192000" cy="1046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FADAF7B5-C0EB-6B5F-BC26-9F235EE9941C}"/>
              </a:ext>
            </a:extLst>
          </p:cNvPr>
          <p:cNvSpPr/>
          <p:nvPr/>
        </p:nvSpPr>
        <p:spPr>
          <a:xfrm>
            <a:off x="457200" y="-1"/>
            <a:ext cx="10972800" cy="10463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RLC Failure &amp; Recovery</a:t>
            </a:r>
            <a:endParaRPr lang="en-US" sz="4400" dirty="0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184E441-E78F-7F28-6C0E-2D63C36B8DBF}"/>
              </a:ext>
            </a:extLst>
          </p:cNvPr>
          <p:cNvSpPr/>
          <p:nvPr/>
        </p:nvSpPr>
        <p:spPr>
          <a:xfrm>
            <a:off x="550682" y="1484131"/>
            <a:ext cx="11090635" cy="1097280"/>
          </a:xfrm>
          <a:prstGeom prst="rect">
            <a:avLst/>
          </a:prstGeom>
          <a:solidFill>
            <a:srgbClr val="FF6B35"/>
          </a:solidFill>
          <a:ln/>
          <a:effectLst>
            <a:innerShdw blurRad="114300">
              <a:prstClr val="black"/>
            </a:inn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93094C38-AFC7-E42D-7B8B-0749F61842CE}"/>
              </a:ext>
            </a:extLst>
          </p:cNvPr>
          <p:cNvSpPr/>
          <p:nvPr/>
        </p:nvSpPr>
        <p:spPr>
          <a:xfrm>
            <a:off x="777272" y="171525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Trigger</a:t>
            </a:r>
            <a:endParaRPr lang="en-US" sz="20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E90DAD66-EEF2-29BD-CEE4-196782B5D8D1}"/>
              </a:ext>
            </a:extLst>
          </p:cNvPr>
          <p:cNvSpPr/>
          <p:nvPr/>
        </p:nvSpPr>
        <p:spPr>
          <a:xfrm>
            <a:off x="754396" y="2051805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PDU exceeds maxRetxThreshold retransmission attempts</a:t>
            </a:r>
            <a:endParaRPr lang="en-US" sz="20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757B1BC-388E-B41B-D77E-E90A96C669E9}"/>
              </a:ext>
            </a:extLst>
          </p:cNvPr>
          <p:cNvSpPr/>
          <p:nvPr/>
        </p:nvSpPr>
        <p:spPr>
          <a:xfrm>
            <a:off x="548656" y="286795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2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RRC Recovery Procedures</a:t>
            </a:r>
            <a:endParaRPr lang="en-US" sz="28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29F2923-8A16-B38E-EFF3-6FD72ABF05FE}"/>
              </a:ext>
            </a:extLst>
          </p:cNvPr>
          <p:cNvSpPr/>
          <p:nvPr/>
        </p:nvSpPr>
        <p:spPr>
          <a:xfrm>
            <a:off x="548656" y="3456369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32D86AE2-02B7-6CBA-6949-BCB5B802CB90}"/>
              </a:ext>
            </a:extLst>
          </p:cNvPr>
          <p:cNvSpPr/>
          <p:nvPr/>
        </p:nvSpPr>
        <p:spPr>
          <a:xfrm>
            <a:off x="754396" y="3444079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Report RLC failure to RRC layer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B7D4A7D0-7842-BFB6-FDDA-2B5FF31750E7}"/>
              </a:ext>
            </a:extLst>
          </p:cNvPr>
          <p:cNvSpPr/>
          <p:nvPr/>
        </p:nvSpPr>
        <p:spPr>
          <a:xfrm>
            <a:off x="548656" y="3993580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AA5F669-6080-30C4-D399-9C9FBE3F7B50}"/>
              </a:ext>
            </a:extLst>
          </p:cNvPr>
          <p:cNvSpPr/>
          <p:nvPr/>
        </p:nvSpPr>
        <p:spPr>
          <a:xfrm>
            <a:off x="777272" y="3987729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Trigger Radio Link Failure (RLF) recovery</a:t>
            </a:r>
            <a:endParaRPr lang="en-US" sz="16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FA1E074-980B-51C3-7FCE-9CF336A98600}"/>
              </a:ext>
            </a:extLst>
          </p:cNvPr>
          <p:cNvSpPr/>
          <p:nvPr/>
        </p:nvSpPr>
        <p:spPr>
          <a:xfrm>
            <a:off x="548656" y="4513612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EDFDFAC9-DDF7-79A1-318F-62E8C44DB27F}"/>
              </a:ext>
            </a:extLst>
          </p:cNvPr>
          <p:cNvSpPr/>
          <p:nvPr/>
        </p:nvSpPr>
        <p:spPr>
          <a:xfrm>
            <a:off x="777272" y="4518241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Attempt RRC re-establishment</a:t>
            </a:r>
            <a:endParaRPr lang="en-US" sz="16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F8AC968B-82D8-12A4-D49A-3F0FB4D3CA7C}"/>
              </a:ext>
            </a:extLst>
          </p:cNvPr>
          <p:cNvSpPr/>
          <p:nvPr/>
        </p:nvSpPr>
        <p:spPr>
          <a:xfrm>
            <a:off x="548656" y="5077481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80D15173-DBA6-1BC0-90BE-032919C0D0C6}"/>
              </a:ext>
            </a:extLst>
          </p:cNvPr>
          <p:cNvSpPr/>
          <p:nvPr/>
        </p:nvSpPr>
        <p:spPr>
          <a:xfrm>
            <a:off x="777272" y="5111682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Perform cell reselection if needed</a:t>
            </a:r>
            <a:endParaRPr lang="en-US" sz="16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77555957-7E8A-A100-072E-022C6C394A9E}"/>
              </a:ext>
            </a:extLst>
          </p:cNvPr>
          <p:cNvSpPr/>
          <p:nvPr/>
        </p:nvSpPr>
        <p:spPr>
          <a:xfrm>
            <a:off x="548656" y="5644858"/>
            <a:ext cx="137160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67F4316A-8AF6-2AD1-4DAD-62488103B93C}"/>
              </a:ext>
            </a:extLst>
          </p:cNvPr>
          <p:cNvSpPr/>
          <p:nvPr/>
        </p:nvSpPr>
        <p:spPr>
          <a:xfrm>
            <a:off x="777272" y="564485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Handover to different cell as last resort</a:t>
            </a:r>
            <a:endParaRPr lang="en-US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53400C-7571-9E50-4891-D79FB1E7F6F3}"/>
              </a:ext>
            </a:extLst>
          </p:cNvPr>
          <p:cNvSpPr txBox="1"/>
          <p:nvPr/>
        </p:nvSpPr>
        <p:spPr>
          <a:xfrm>
            <a:off x="548656" y="2705493"/>
            <a:ext cx="11090635" cy="33051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182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6A94-2A1E-B2E1-88DF-A904ACF47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0763BE3-F7EA-6668-1F27-6C895646FB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EBCFD9E-5565-3DAC-082A-8B902E886205}"/>
              </a:ext>
            </a:extLst>
          </p:cNvPr>
          <p:cNvSpPr txBox="1"/>
          <p:nvPr/>
        </p:nvSpPr>
        <p:spPr>
          <a:xfrm>
            <a:off x="4443611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03751-D42F-38B5-1F30-2ABC4D04F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D9B2AF-2183-9D5E-EDAD-CA1BEEF74795}"/>
              </a:ext>
            </a:extLst>
          </p:cNvPr>
          <p:cNvSpPr txBox="1"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9A3273-8406-B693-1ABA-702B813C59AF}"/>
              </a:ext>
            </a:extLst>
          </p:cNvPr>
          <p:cNvSpPr txBox="1"/>
          <p:nvPr/>
        </p:nvSpPr>
        <p:spPr>
          <a:xfrm>
            <a:off x="108630" y="144959"/>
            <a:ext cx="52413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>
                <a:solidFill>
                  <a:schemeClr val="bg2"/>
                </a:solidFill>
              </a:rPr>
              <a:t>3 GPP Reference</a:t>
            </a:r>
            <a:endParaRPr lang="en-IN" sz="4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C3F1BA-FD4E-2983-F618-613C323CC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" y="1059358"/>
            <a:ext cx="11974740" cy="458729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0B7DE9-212B-DD51-83B8-BFF80734E00A}"/>
              </a:ext>
            </a:extLst>
          </p:cNvPr>
          <p:cNvSpPr txBox="1"/>
          <p:nvPr/>
        </p:nvSpPr>
        <p:spPr>
          <a:xfrm>
            <a:off x="0" y="3733014"/>
            <a:ext cx="12192000" cy="1913642"/>
          </a:xfrm>
          <a:prstGeom prst="rect">
            <a:avLst/>
          </a:prstGeom>
          <a:noFill/>
          <a:ln>
            <a:solidFill>
              <a:schemeClr val="bg2"/>
            </a:solidFill>
          </a:ln>
          <a:effectLst>
            <a:glow rad="508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08422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05EAE-984E-C9B8-C790-FC6B31AE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1C1202D-4995-9F72-CBB6-D8F86DE9E4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4552632F-D837-EF11-A498-EB524D1428CC}"/>
              </a:ext>
            </a:extLst>
          </p:cNvPr>
          <p:cNvSpPr txBox="1"/>
          <p:nvPr/>
        </p:nvSpPr>
        <p:spPr>
          <a:xfrm>
            <a:off x="4443610" y="6617335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FE244-A282-4994-24E7-B28F32FC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C5415-F5B2-546B-27C1-4D9206073487}"/>
              </a:ext>
            </a:extLst>
          </p:cNvPr>
          <p:cNvSpPr txBox="1"/>
          <p:nvPr/>
        </p:nvSpPr>
        <p:spPr>
          <a:xfrm>
            <a:off x="0" y="0"/>
            <a:ext cx="12192000" cy="110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899E1-578F-4514-D152-D1E1E9CA1E74}"/>
              </a:ext>
            </a:extLst>
          </p:cNvPr>
          <p:cNvSpPr txBox="1"/>
          <p:nvPr/>
        </p:nvSpPr>
        <p:spPr>
          <a:xfrm>
            <a:off x="301658" y="169277"/>
            <a:ext cx="6966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39CDEEC7-8D91-618F-745C-C6DF5E77188D}"/>
              </a:ext>
            </a:extLst>
          </p:cNvPr>
          <p:cNvSpPr/>
          <p:nvPr/>
        </p:nvSpPr>
        <p:spPr>
          <a:xfrm>
            <a:off x="918642" y="1898131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4786C7C-F9CF-41CA-1817-C3B8BEF35746}"/>
              </a:ext>
            </a:extLst>
          </p:cNvPr>
          <p:cNvSpPr/>
          <p:nvPr/>
        </p:nvSpPr>
        <p:spPr>
          <a:xfrm>
            <a:off x="1055802" y="1983893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ARQ provides reliable delivery at RLC layer through retransmission</a:t>
            </a:r>
            <a:endParaRPr lang="en-US" sz="2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54B82D7-1301-DE16-52D5-92CC22E7466D}"/>
              </a:ext>
            </a:extLst>
          </p:cNvPr>
          <p:cNvSpPr/>
          <p:nvPr/>
        </p:nvSpPr>
        <p:spPr>
          <a:xfrm>
            <a:off x="918642" y="270891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C7D6544-825A-9194-76C4-8DDB4E2EB422}"/>
              </a:ext>
            </a:extLst>
          </p:cNvPr>
          <p:cNvSpPr/>
          <p:nvPr/>
        </p:nvSpPr>
        <p:spPr>
          <a:xfrm>
            <a:off x="1055802" y="266319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Polling mechanism ensures timely STATUS feedback</a:t>
            </a:r>
            <a:endParaRPr lang="en-US" sz="2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D0667CD7-F4F8-DB26-AC19-1D1AA9C4A2B6}"/>
              </a:ext>
            </a:extLst>
          </p:cNvPr>
          <p:cNvSpPr/>
          <p:nvPr/>
        </p:nvSpPr>
        <p:spPr>
          <a:xfrm>
            <a:off x="918642" y="3239521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9E41B41-BD3D-FB26-58F6-9E06E844CCE9}"/>
              </a:ext>
            </a:extLst>
          </p:cNvPr>
          <p:cNvSpPr/>
          <p:nvPr/>
        </p:nvSpPr>
        <p:spPr>
          <a:xfrm>
            <a:off x="1055802" y="32004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Window-based flow control prevents buffer overflow</a:t>
            </a:r>
            <a:endParaRPr lang="en-US" sz="24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D93276DB-22A4-98F0-5927-126696B6C8F1}"/>
              </a:ext>
            </a:extLst>
          </p:cNvPr>
          <p:cNvSpPr/>
          <p:nvPr/>
        </p:nvSpPr>
        <p:spPr>
          <a:xfrm>
            <a:off x="1055802" y="37719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In-order delivery guarantees correct SDU sequencing</a:t>
            </a:r>
            <a:endParaRPr lang="en-US" sz="24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26C3D8B-62B0-DE10-3BE2-E74BAF66F14A}"/>
              </a:ext>
            </a:extLst>
          </p:cNvPr>
          <p:cNvSpPr/>
          <p:nvPr/>
        </p:nvSpPr>
        <p:spPr>
          <a:xfrm>
            <a:off x="918642" y="5100508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F6487316-7273-6B41-6389-682EC0A90FC3}"/>
              </a:ext>
            </a:extLst>
          </p:cNvPr>
          <p:cNvSpPr/>
          <p:nvPr/>
        </p:nvSpPr>
        <p:spPr>
          <a:xfrm>
            <a:off x="1055802" y="439184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MAC HARQ for end-to-end reliability</a:t>
            </a:r>
            <a:endParaRPr lang="en-US" sz="240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F4C05026-30C1-3C4B-390A-F7505B50EA57}"/>
              </a:ext>
            </a:extLst>
          </p:cNvPr>
          <p:cNvSpPr/>
          <p:nvPr/>
        </p:nvSpPr>
        <p:spPr>
          <a:xfrm>
            <a:off x="918642" y="4448998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BE47078F-456E-419B-167A-27C80F826624}"/>
              </a:ext>
            </a:extLst>
          </p:cNvPr>
          <p:cNvSpPr/>
          <p:nvPr/>
        </p:nvSpPr>
        <p:spPr>
          <a:xfrm>
            <a:off x="1055802" y="52376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follows 3GPP TS 38.322 specification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58A8679B-200D-B275-DD72-970B0F101779}"/>
              </a:ext>
            </a:extLst>
          </p:cNvPr>
          <p:cNvSpPr/>
          <p:nvPr/>
        </p:nvSpPr>
        <p:spPr>
          <a:xfrm>
            <a:off x="918642" y="3874770"/>
            <a:ext cx="137160" cy="1371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1CE711-A7EB-763D-00A5-8A1114C5DCF0}"/>
              </a:ext>
            </a:extLst>
          </p:cNvPr>
          <p:cNvSpPr txBox="1"/>
          <p:nvPr/>
        </p:nvSpPr>
        <p:spPr>
          <a:xfrm>
            <a:off x="678730" y="1564849"/>
            <a:ext cx="10859678" cy="4053526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215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F0908-EC8D-0C60-3819-B1C2437BC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0D522F9-CD1D-8B42-4512-A30D1E27C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2C6F081-5CC6-EEF5-CFAF-F8474B6B4C8F}"/>
              </a:ext>
            </a:extLst>
          </p:cNvPr>
          <p:cNvSpPr txBox="1"/>
          <p:nvPr/>
        </p:nvSpPr>
        <p:spPr>
          <a:xfrm>
            <a:off x="4424757" y="6624374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0A907-8DB0-FB0F-88A5-7EDDF431A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9914"/>
            <a:ext cx="2743200" cy="365125"/>
          </a:xfrm>
        </p:spPr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A1261D-C9D0-F8BD-9A32-E7E94586DDA2}"/>
              </a:ext>
            </a:extLst>
          </p:cNvPr>
          <p:cNvSpPr txBox="1"/>
          <p:nvPr/>
        </p:nvSpPr>
        <p:spPr>
          <a:xfrm>
            <a:off x="0" y="0"/>
            <a:ext cx="12192000" cy="110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IN" sz="6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909FB-9674-6283-A28A-988AFFC009C5}"/>
              </a:ext>
            </a:extLst>
          </p:cNvPr>
          <p:cNvSpPr txBox="1"/>
          <p:nvPr/>
        </p:nvSpPr>
        <p:spPr>
          <a:xfrm>
            <a:off x="301658" y="169277"/>
            <a:ext cx="69664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01EB8-DBED-EBD8-9F9E-B39C04F34DC5}"/>
              </a:ext>
            </a:extLst>
          </p:cNvPr>
          <p:cNvSpPr txBox="1"/>
          <p:nvPr/>
        </p:nvSpPr>
        <p:spPr>
          <a:xfrm>
            <a:off x="0" y="2177592"/>
            <a:ext cx="12192000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8"/>
            <a:r>
              <a:rPr lang="en-IN" sz="3200" b="1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Presented By Group : 03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 Jayavarshini G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en-IN" sz="32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Harshinie</a:t>
            </a:r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M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Yuvaraj P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4. Shreyash Bhatt</a:t>
            </a:r>
          </a:p>
          <a:p>
            <a:pPr lvl="8"/>
            <a:r>
              <a:rPr lang="en-IN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5. Vikas Srivastava</a:t>
            </a:r>
          </a:p>
        </p:txBody>
      </p:sp>
    </p:spTree>
    <p:extLst>
      <p:ext uri="{BB962C8B-B14F-4D97-AF65-F5344CB8AC3E}">
        <p14:creationId xmlns:p14="http://schemas.microsoft.com/office/powerpoint/2010/main" val="228918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1914</Words>
  <Application>Microsoft Office PowerPoint</Application>
  <PresentationFormat>Widescreen</PresentationFormat>
  <Paragraphs>295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Aptos</vt:lpstr>
      <vt:lpstr>Aptos Display</vt:lpstr>
      <vt:lpstr>Arial</vt:lpstr>
      <vt:lpstr>Calibri</vt:lpstr>
      <vt:lpstr>Calibri Light</vt:lpstr>
      <vt:lpstr>Cascadia Code SemiBold</vt:lpstr>
      <vt:lpstr>Consolas</vt:lpstr>
      <vt:lpstr>HK Grotesk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vikas srivastava</cp:lastModifiedBy>
  <cp:revision>85</cp:revision>
  <dcterms:created xsi:type="dcterms:W3CDTF">2024-05-04T13:11:57Z</dcterms:created>
  <dcterms:modified xsi:type="dcterms:W3CDTF">2026-02-11T17:24:50Z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