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5" r:id="rId4"/>
    <p:sldId id="258" r:id="rId5"/>
    <p:sldId id="279" r:id="rId6"/>
    <p:sldId id="259" r:id="rId7"/>
    <p:sldId id="277" r:id="rId8"/>
    <p:sldId id="260" r:id="rId9"/>
    <p:sldId id="261" r:id="rId10"/>
    <p:sldId id="262" r:id="rId11"/>
    <p:sldId id="263" r:id="rId12"/>
    <p:sldId id="278" r:id="rId13"/>
    <p:sldId id="284" r:id="rId14"/>
    <p:sldId id="283" r:id="rId15"/>
    <p:sldId id="282" r:id="rId16"/>
    <p:sldId id="281" r:id="rId17"/>
    <p:sldId id="270" r:id="rId18"/>
    <p:sldId id="276" r:id="rId19"/>
    <p:sldId id="271" r:id="rId20"/>
    <p:sldId id="280" r:id="rId21"/>
    <p:sldId id="273" r:id="rId22"/>
    <p:sldId id="274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332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1C624-EBE0-03EB-6670-B1D86E860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057DF-8B9F-9406-BEED-BAD61FA22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1A9E3-9640-B2DF-CCC7-4B40BD6D1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B4830-FBFF-8335-79D8-8389C3081D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30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21F66-FF61-D495-8568-EE45B1125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B8F17D-BA38-6486-BB55-2D1422800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9D37F2-2431-7A03-BFBB-B8AF933B0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5E9D3-112A-CBC7-AE83-93E07D9838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24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55C02-55D1-5E5F-0F48-C61298CD4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8A2C5-B357-19B8-546F-3597A6D50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BB6D4C-23B0-827D-2A50-4EBF0B26A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336DB-067B-F03F-8DE1-3F53A5B98E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750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D022A-2006-9925-1ADB-3D9BA6F31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3CFA2-DDCA-21B5-E5B4-F08482384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0513B9-F608-2BF5-26D5-875DB9B34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C9E89-88D1-0D33-A245-9025996948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3341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4C8EA-41D1-718A-DE1A-1DD881D44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138F1-00A8-FB17-30F4-8E746A39C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5D4B12-5028-2631-1C9F-7DDBCEE52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7749F-A4CE-75B2-C8C6-895F2FEF6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956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DFF43-33C6-37A2-288C-B84608CB1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F41A5-D1D1-2A55-815B-65B49A8F8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18141-4870-B95B-00A5-D1A817077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FB528-A8BF-2CED-78A5-32835FE863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57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B45F7-DB35-B06F-122D-A56AAB63B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3390CD-E69E-B0AE-396B-C0563ECCB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8938D-8F84-CBA8-EA71-8D3579F40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0E93A-74A4-DC44-27BD-6100B17C68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4942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2C74B3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71973" y="191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NR RLC ARQ Process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3931920"/>
            <a:ext cx="1828800" cy="45720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3GPP TS 38.322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6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325879"/>
            <a:ext cx="6858000" cy="3760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737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2042A2-D6CA-7419-1157-B7779C08430B}"/>
              </a:ext>
            </a:extLst>
          </p:cNvPr>
          <p:cNvSpPr txBox="1"/>
          <p:nvPr/>
        </p:nvSpPr>
        <p:spPr>
          <a:xfrm>
            <a:off x="822960" y="1603415"/>
            <a:ext cx="75793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•</a:t>
            </a:r>
            <a:r>
              <a:rPr lang="en-US" dirty="0"/>
              <a:t> 5G networks require ultra-reliable and low-latency data transmission for      services like IoT, and video streaming.</a:t>
            </a:r>
            <a:br>
              <a:rPr lang="en-US" dirty="0"/>
            </a:b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•</a:t>
            </a:r>
            <a:r>
              <a:rPr lang="en-US" dirty="0"/>
              <a:t> The RLC layer ensures ordered and error-free delivery of data between PDCP and MAC layers.</a:t>
            </a:r>
            <a:br>
              <a:rPr lang="en-US" dirty="0"/>
            </a:b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•</a:t>
            </a:r>
            <a:r>
              <a:rPr lang="en-US" dirty="0"/>
              <a:t> ARQ mechanism helps in detecting packet loss and retransmitting missing data.</a:t>
            </a:r>
            <a:br>
              <a:rPr lang="en-US" dirty="0"/>
            </a:b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•</a:t>
            </a:r>
            <a:r>
              <a:rPr lang="en-US" dirty="0"/>
              <a:t> This project demonstrates ARQ working through C++ simulation.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AEAA78-F2DB-E487-BB6B-E4DC459B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9B5BB2-86CB-D724-5C90-02CADAF2E020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6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63A394E-F549-F13C-77E1-36F21EBE17C6}"/>
              </a:ext>
            </a:extLst>
          </p:cNvPr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Protocol Stack</a:t>
            </a:r>
            <a:endParaRPr lang="en-US" sz="3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A591A67-B881-081E-BDA9-88826A1D9BE7}"/>
              </a:ext>
            </a:extLst>
          </p:cNvPr>
          <p:cNvSpPr/>
          <p:nvPr/>
        </p:nvSpPr>
        <p:spPr>
          <a:xfrm>
            <a:off x="64008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0754C85-097E-ED22-B686-25FF1E259ACC}"/>
              </a:ext>
            </a:extLst>
          </p:cNvPr>
          <p:cNvSpPr/>
          <p:nvPr/>
        </p:nvSpPr>
        <p:spPr>
          <a:xfrm>
            <a:off x="1188720" y="1325879"/>
            <a:ext cx="6858000" cy="3760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58FF08A-2978-D926-9B64-A2B720946B86}"/>
              </a:ext>
            </a:extLst>
          </p:cNvPr>
          <p:cNvSpPr/>
          <p:nvPr/>
        </p:nvSpPr>
        <p:spPr>
          <a:xfrm>
            <a:off x="64008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5E9C9BC-EAD8-A38B-7165-44A210827E43}"/>
              </a:ext>
            </a:extLst>
          </p:cNvPr>
          <p:cNvSpPr/>
          <p:nvPr/>
        </p:nvSpPr>
        <p:spPr>
          <a:xfrm>
            <a:off x="1188720" y="1737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99979A7-F633-355E-7429-EE325E352437}"/>
              </a:ext>
            </a:extLst>
          </p:cNvPr>
          <p:cNvSpPr/>
          <p:nvPr/>
        </p:nvSpPr>
        <p:spPr>
          <a:xfrm>
            <a:off x="6400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70BD646-FF4B-DF9B-31D3-A0A0567D20EA}"/>
              </a:ext>
            </a:extLst>
          </p:cNvPr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9CD61ED-0BB2-F2CA-C3D5-D5F3FDA8520D}"/>
              </a:ext>
            </a:extLst>
          </p:cNvPr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08DF0E-55E9-651F-D746-D8D030D19225}"/>
              </a:ext>
            </a:extLst>
          </p:cNvPr>
          <p:cNvSpPr txBox="1"/>
          <p:nvPr/>
        </p:nvSpPr>
        <p:spPr>
          <a:xfrm>
            <a:off x="822960" y="1603415"/>
            <a:ext cx="75793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•</a:t>
            </a:r>
            <a:r>
              <a:rPr lang="en-IN" dirty="0"/>
              <a:t> PDCP handles security, header compression, and data forwarding.</a:t>
            </a:r>
            <a:br>
              <a:rPr lang="en-IN" dirty="0"/>
            </a:b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•</a:t>
            </a:r>
            <a:r>
              <a:rPr lang="en-IN" dirty="0"/>
              <a:t> RLC performs segmentation, reassembly, and error control using ARQ.</a:t>
            </a:r>
            <a:br>
              <a:rPr lang="en-IN" dirty="0"/>
            </a:b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•</a:t>
            </a:r>
            <a:r>
              <a:rPr lang="en-IN" dirty="0"/>
              <a:t> MAC manages scheduling and fast retransmissions using HARQ.</a:t>
            </a:r>
            <a:br>
              <a:rPr lang="en-IN" dirty="0"/>
            </a:b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• </a:t>
            </a:r>
            <a:r>
              <a:rPr lang="en-IN" dirty="0"/>
              <a:t>PHY layer handles modulation, coding, and wireless transmission.</a:t>
            </a:r>
          </a:p>
          <a:p>
            <a:endParaRPr lang="en-IN" dirty="0"/>
          </a:p>
          <a:p>
            <a:r>
              <a:rPr lang="en-IN" sz="2400" dirty="0">
                <a:solidFill>
                  <a:schemeClr val="accent5">
                    <a:lumMod val="75000"/>
                  </a:schemeClr>
                </a:solidFill>
              </a:rPr>
              <a:t>➡</a:t>
            </a:r>
            <a:r>
              <a:rPr lang="en-IN" dirty="0"/>
              <a:t> RLC plays a key role in reliability.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8904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6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RLC ARQ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Layer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Radio Link Control (RLC) layer is a critical component of the 5G NR protocol stack, positioned between PDCP and MAC layers.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operates in three modes: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Transparent Mode (TM)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Unacknowledged Mode (UM)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Acknowledged Mode (AM)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 mechanism is implemented exclusively in AM mode, providing reliable data delivery through automatic retransmission of lost PDUs.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097280"/>
            <a:ext cx="3200400" cy="3474720"/>
          </a:xfrm>
          <a:prstGeom prst="rect">
            <a:avLst/>
          </a:prstGeom>
          <a:solidFill>
            <a:srgbClr val="0A2647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669280" y="1280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69280" y="182880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Protocol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Delivery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Control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Delivery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53696E-BD1A-D5F9-7F43-8B3E90109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176" y="112795"/>
            <a:ext cx="6573647" cy="491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313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6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Architecture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Stack Position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57600" cy="640080"/>
          </a:xfrm>
          <a:prstGeom prst="rect">
            <a:avLst/>
          </a:prstGeom>
          <a:solidFill>
            <a:srgbClr val="2C74B3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PDCP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Ciphering, Header Compression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657600" cy="640080"/>
          </a:xfrm>
          <a:prstGeom prst="rect">
            <a:avLst/>
          </a:prstGeom>
          <a:solidFill>
            <a:srgbClr val="00D9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 operates here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657600" cy="640080"/>
          </a:xfrm>
          <a:prstGeom prst="rect">
            <a:avLst/>
          </a:prstGeom>
          <a:solidFill>
            <a:srgbClr val="2C74B3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Layer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HARQ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3657600" cy="640080"/>
          </a:xfrm>
          <a:prstGeom prst="rect">
            <a:avLst/>
          </a:prstGeom>
          <a:solidFill>
            <a:srgbClr val="0A2647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3886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 Layer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Modulation, Coding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AM Entity Structure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754880" y="1645920"/>
            <a:ext cx="393192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2C74B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4632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Transmitting Side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21031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SDU reception from PDCP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PDU construction &amp; segmentation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Polling &amp; retransmission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processing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200400"/>
            <a:ext cx="393192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4632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Side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36576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PDU reception &amp; reordering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Duplicate detection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In-order delivery to PDCP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report generation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2FA443-7F16-F6D8-950E-05933C819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27" y="88053"/>
            <a:ext cx="7145866" cy="505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134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6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 Process Flow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SDU Reception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325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PDCP submits SDUs to RLC transmitter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5488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49240" y="1097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PDU Construction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1325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AMD PDUs with headers (D/C, P, SI, SN)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1645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18745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Poll bit based on triggers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645920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548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49240" y="1645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18745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MAC layer for air interface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51560" y="2194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2423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buffers and validates PDU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194560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49240" y="2194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Delivery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2423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consecutive PDUs to PDCP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51560" y="2743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51560" y="29718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ACK/NACK feedback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743200"/>
            <a:ext cx="457200" cy="4572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548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49240" y="2743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49240" y="29718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Retransmit NACKed PDUs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6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Implementation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91440" cy="64008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Data Structures &amp; Enums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PollBit</a:t>
            </a:r>
            <a:r>
              <a:rPr lang="fr-FR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SDU, PDU, STATUS_PDU</a:t>
            </a:r>
            <a:endParaRPr lang="en-US" sz="12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91440" cy="64008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Configuration Parameters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RLC_AM_Config with 3GPP TS 38.331 compliance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91440" cy="64008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Transmitter Implementation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0175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RLC_AM_Transmitter class with ARQ logic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91440" cy="64008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Receiver Implementation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37490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RLC_AM_Receiver</a:t>
            </a:r>
            <a:r>
              <a:rPr 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class with in-order delivery and STATUS generation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91440" cy="64008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31520" y="42062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Main Simulation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448056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ARQ process orchestration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6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910839" y="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Structures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645920"/>
          </a:xfrm>
          <a:prstGeom prst="rect">
            <a:avLst/>
          </a:prstGeom>
          <a:solidFill>
            <a:srgbClr val="7030A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u="sng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PollBit</a:t>
            </a:r>
            <a:r>
              <a:rPr lang="en-IN" b="1" u="sng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(Polling Field)</a:t>
            </a:r>
            <a:endParaRPr lang="en-US" sz="1800" b="1" u="sng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P_NOT_SET = 0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P_SET     = 1</a:t>
            </a:r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chemeClr val="accent4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3776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AMD_PDU_Header</a:t>
            </a:r>
            <a:endParaRPr lang="en-US" sz="1800" u="sng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114800" cy="1554480"/>
          </a:xfrm>
          <a:prstGeom prst="rect">
            <a:avLst/>
          </a:prstGeom>
          <a:solidFill>
            <a:srgbClr val="00B05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25840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u="sng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SDU (Service Data Unit)</a:t>
            </a:r>
            <a:endParaRPr lang="en-US" sz="1800" b="1" u="sng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4968CA-4809-BB00-D70F-A2ED84FB8CEF}"/>
              </a:ext>
            </a:extLst>
          </p:cNvPr>
          <p:cNvSpPr txBox="1"/>
          <p:nvPr/>
        </p:nvSpPr>
        <p:spPr>
          <a:xfrm>
            <a:off x="4754880" y="3017520"/>
            <a:ext cx="3931920" cy="155448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2CAD90-1975-3133-9FBD-7E8E74270D68}"/>
              </a:ext>
            </a:extLst>
          </p:cNvPr>
          <p:cNvSpPr txBox="1"/>
          <p:nvPr/>
        </p:nvSpPr>
        <p:spPr>
          <a:xfrm>
            <a:off x="772160" y="3566160"/>
            <a:ext cx="27025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id   : SDU identifier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size : Size of data from PDCP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3BF4DD-7196-0C5E-F836-17D7456F8D42}"/>
              </a:ext>
            </a:extLst>
          </p:cNvPr>
          <p:cNvSpPr txBox="1"/>
          <p:nvPr/>
        </p:nvSpPr>
        <p:spPr>
          <a:xfrm>
            <a:off x="5059679" y="3152894"/>
            <a:ext cx="3041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STATUS_PDU (ARQ Feedback)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5DCC87-C0F5-B8AE-AD24-2B70AA4C0723}"/>
              </a:ext>
            </a:extLst>
          </p:cNvPr>
          <p:cNvSpPr txBox="1"/>
          <p:nvPr/>
        </p:nvSpPr>
        <p:spPr>
          <a:xfrm>
            <a:off x="5127413" y="3522226"/>
            <a:ext cx="324442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ack_sn</a:t>
            </a:r>
            <a:r>
              <a:rPr lang="en-US" sz="1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: All SNs below this are acknowledged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nacks</a:t>
            </a:r>
            <a:r>
              <a:rPr lang="en-US" sz="1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: List of missing SNs for retransmission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67E6B2-DBE1-B7A6-5306-83F41FCC2A1B}"/>
              </a:ext>
            </a:extLst>
          </p:cNvPr>
          <p:cNvSpPr txBox="1"/>
          <p:nvPr/>
        </p:nvSpPr>
        <p:spPr>
          <a:xfrm>
            <a:off x="4985173" y="1554480"/>
            <a:ext cx="33121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sn</a:t>
            </a:r>
            <a:r>
              <a:rPr lang="en-US" sz="1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  : Sequence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poll  : Polling flag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size  : SDU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retx</a:t>
            </a:r>
            <a:r>
              <a:rPr lang="en-US" sz="1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: Retransmission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6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AM Configuration Parameters</a:t>
            </a:r>
            <a:endParaRPr lang="en-US" sz="3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37060F-35B9-CE84-728F-CC643AFDD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376714"/>
              </p:ext>
            </p:extLst>
          </p:nvPr>
        </p:nvGraphicFramePr>
        <p:xfrm>
          <a:off x="1253067" y="1305136"/>
          <a:ext cx="6096000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197273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905747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015972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188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total_sdus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Number of SDUs submitted from PDCP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531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pollPDU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Trigger poll after every 4 PDUs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2944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maxRetx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Maximum retransmission attempts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852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error_rate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Simulated channel packet loss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2754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FF214-9465-E9F7-C53A-ED8E8C2FC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24CFA1A-DF38-490C-6F03-48802E8EB558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6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060ED1D-6C84-AC22-A26F-F80613B81418}"/>
              </a:ext>
            </a:extLst>
          </p:cNvPr>
          <p:cNvSpPr/>
          <p:nvPr/>
        </p:nvSpPr>
        <p:spPr>
          <a:xfrm>
            <a:off x="3017520" y="54187"/>
            <a:ext cx="30242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Code</a:t>
            </a:r>
            <a:endParaRPr lang="en-US" sz="4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7AE7D53-255C-31CF-10F1-8C5DD2750820}"/>
              </a:ext>
            </a:extLst>
          </p:cNvPr>
          <p:cNvSpPr/>
          <p:nvPr/>
        </p:nvSpPr>
        <p:spPr>
          <a:xfrm>
            <a:off x="1828800" y="2560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www.cafetele.com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8BDE68C-367F-A628-29CF-BC114921EF19}"/>
              </a:ext>
            </a:extLst>
          </p:cNvPr>
          <p:cNvSpPr/>
          <p:nvPr/>
        </p:nvSpPr>
        <p:spPr>
          <a:xfrm>
            <a:off x="182880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Training in: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F862E84-49AD-5EEB-5BD1-8818236A392B}"/>
              </a:ext>
            </a:extLst>
          </p:cNvPr>
          <p:cNvSpPr/>
          <p:nvPr/>
        </p:nvSpPr>
        <p:spPr>
          <a:xfrm>
            <a:off x="182880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4G/5G • O-RAN • AI/ML • Network Optimization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FD13F6-5270-4951-391F-6441F64EB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1520"/>
            <a:ext cx="4977070" cy="44162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062839-ABBA-9396-534C-AB49E91826F1}"/>
              </a:ext>
            </a:extLst>
          </p:cNvPr>
          <p:cNvSpPr txBox="1"/>
          <p:nvPr/>
        </p:nvSpPr>
        <p:spPr>
          <a:xfrm>
            <a:off x="4977070" y="739053"/>
            <a:ext cx="4166930" cy="440120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3"/>
            <a:r>
              <a:rPr lang="en-US" sz="1400" b="1" u="sng" dirty="0">
                <a:solidFill>
                  <a:srgbClr val="00206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Phase : 01</a:t>
            </a:r>
          </a:p>
          <a:p>
            <a:pPr lvl="3"/>
            <a:endParaRPr lang="en-US" sz="1400" b="1" u="sng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</a:t>
            </a:r>
            <a:r>
              <a:rPr lang="en-US" sz="1400" b="1" i="1" dirty="0" err="1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enum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keyword is used to create an enumeration named </a:t>
            </a:r>
            <a:r>
              <a:rPr lang="en-US" sz="1400" b="1" i="1" dirty="0" err="1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PollBit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with two values, </a:t>
            </a:r>
            <a:r>
              <a:rPr lang="en-US" sz="1400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P_NOT_SET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 </a:t>
            </a:r>
            <a:r>
              <a:rPr lang="en-US" sz="1400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P_SET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mapped to 0 and 1, which helps replace numeric values with meaningful names and improves readability.</a:t>
            </a:r>
          </a:p>
          <a:p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struct keyword is used to define custom data types. </a:t>
            </a:r>
            <a:r>
              <a:rPr lang="en-US" sz="1400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SDU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contains two integers id and size to represent data identity and length.</a:t>
            </a:r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PDU</a:t>
            </a:r>
            <a:r>
              <a:rPr lang="en-US"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stores a sequence number </a:t>
            </a:r>
            <a:r>
              <a:rPr lang="en-US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sn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a </a:t>
            </a:r>
            <a:r>
              <a:rPr lang="en-US" sz="1400" b="1" i="1" dirty="0" err="1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PollBit</a:t>
            </a:r>
            <a:r>
              <a:rPr lang="en-US" sz="1400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poll</a:t>
            </a:r>
            <a:r>
              <a:rPr lang="en-US" sz="1400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value, a </a:t>
            </a:r>
            <a:r>
              <a:rPr lang="en-US" sz="1400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size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and </a:t>
            </a:r>
            <a:r>
              <a:rPr lang="en-US" sz="1400" b="1" i="1" dirty="0" err="1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retx</a:t>
            </a:r>
            <a:r>
              <a:rPr lang="en-US" sz="1400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= 0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 initialize retransmissions. </a:t>
            </a:r>
            <a:r>
              <a:rPr lang="en-US" sz="1400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STATUS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contains an acknowledged sequence number </a:t>
            </a:r>
            <a:r>
              <a:rPr lang="en-US" sz="1400" b="1" i="1" dirty="0" err="1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ack_sn</a:t>
            </a:r>
            <a:r>
              <a:rPr lang="en-US" sz="1400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 a </a:t>
            </a:r>
            <a:r>
              <a:rPr lang="en-US" sz="1400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vector&lt;int&gt; </a:t>
            </a:r>
            <a:r>
              <a:rPr lang="en-US" sz="1400" b="1" i="1" dirty="0" err="1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nacks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where vector is a dynamic array that stores multiple integers.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769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E4F45C-679E-124B-1AD7-8254E8588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7526E9E-5AFD-C71D-CD34-7C77D57B77A1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6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7BA0F8-6B86-7B95-AD30-B65741668F47}"/>
              </a:ext>
            </a:extLst>
          </p:cNvPr>
          <p:cNvSpPr/>
          <p:nvPr/>
        </p:nvSpPr>
        <p:spPr>
          <a:xfrm>
            <a:off x="3017520" y="54187"/>
            <a:ext cx="30242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Code</a:t>
            </a:r>
            <a:endParaRPr lang="en-US" sz="4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A5B9AF2-519B-79E9-89DF-2E19E9200751}"/>
              </a:ext>
            </a:extLst>
          </p:cNvPr>
          <p:cNvSpPr/>
          <p:nvPr/>
        </p:nvSpPr>
        <p:spPr>
          <a:xfrm>
            <a:off x="1828800" y="2560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www.cafetele.com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9A2CE7F-C79B-285E-5ED5-AAA938B5B555}"/>
              </a:ext>
            </a:extLst>
          </p:cNvPr>
          <p:cNvSpPr/>
          <p:nvPr/>
        </p:nvSpPr>
        <p:spPr>
          <a:xfrm>
            <a:off x="182880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Training in: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599F7F8-22C3-AC23-FFF3-1ABF65304ABF}"/>
              </a:ext>
            </a:extLst>
          </p:cNvPr>
          <p:cNvSpPr/>
          <p:nvPr/>
        </p:nvSpPr>
        <p:spPr>
          <a:xfrm>
            <a:off x="182880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4G/5G • O-RAN • AI/ML • Network Optimization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9F8278-D77E-2F9A-DFE3-147844317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6587"/>
            <a:ext cx="4742434" cy="4414378"/>
          </a:xfrm>
          <a:prstGeom prst="rect">
            <a:avLst/>
          </a:prstGeom>
        </p:spPr>
      </p:pic>
      <p:sp>
        <p:nvSpPr>
          <p:cNvPr id="14" name="Rectangle 4">
            <a:extLst>
              <a:ext uri="{FF2B5EF4-FFF2-40B4-BE49-F238E27FC236}">
                <a16:creationId xmlns:a16="http://schemas.microsoft.com/office/drawing/2014/main" id="{74964597-3A2D-A284-6260-99B560431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2434" y="736907"/>
            <a:ext cx="4401566" cy="440120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u="sng" dirty="0">
                <a:solidFill>
                  <a:srgbClr val="00206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Phase : 02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section defines a Config structure that stores simulation settings like total data units, polling interval, maximum retransmissions, and error rate, with default values assigned using =. The statement Config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; creates an object to access these settings throughout the program.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</a:t>
            </a:r>
            <a:r>
              <a:rPr kumimoji="0" lang="en-US" altLang="en-US" sz="1400" b="1" i="1" u="none" strike="noStrike" cap="none" normalizeH="0" baseline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print_separator</a:t>
            </a: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function formats the output using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cout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endl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while const string&amp; avoids unnecessary copying. The </a:t>
            </a:r>
            <a:r>
              <a:rPr kumimoji="0" lang="en-US" altLang="en-US" sz="1400" b="1" i="1" u="none" strike="noStrike" cap="none" normalizeH="0" baseline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channel_success</a:t>
            </a: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function uses bool and If conditions to simulate transmission failure for specific sequence numbers and returns true or false.</a:t>
            </a:r>
            <a:endParaRPr lang="en-US" altLang="en-US" sz="14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087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5BDA4B-D84C-A082-9D62-0727996C0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50630D-FBFB-20FC-D60D-E41383C9C22E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6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62FDAC-DC92-C88F-8466-B2BE6D3C0DF7}"/>
              </a:ext>
            </a:extLst>
          </p:cNvPr>
          <p:cNvSpPr/>
          <p:nvPr/>
        </p:nvSpPr>
        <p:spPr>
          <a:xfrm>
            <a:off x="3017520" y="54187"/>
            <a:ext cx="30242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Code</a:t>
            </a:r>
            <a:endParaRPr lang="en-US" sz="4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2850CE6-2A9C-6A93-DF26-4DC4D8357648}"/>
              </a:ext>
            </a:extLst>
          </p:cNvPr>
          <p:cNvSpPr/>
          <p:nvPr/>
        </p:nvSpPr>
        <p:spPr>
          <a:xfrm>
            <a:off x="1828800" y="2560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www.cafetele.com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0F30E32-7825-C129-D726-7DD27AF99C60}"/>
              </a:ext>
            </a:extLst>
          </p:cNvPr>
          <p:cNvSpPr/>
          <p:nvPr/>
        </p:nvSpPr>
        <p:spPr>
          <a:xfrm>
            <a:off x="182880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Training in: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4E36683-4DC9-395B-363D-5931BA0E27C6}"/>
              </a:ext>
            </a:extLst>
          </p:cNvPr>
          <p:cNvSpPr/>
          <p:nvPr/>
        </p:nvSpPr>
        <p:spPr>
          <a:xfrm>
            <a:off x="182880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4G/5G • O-RAN • AI/ML • Network Optimization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F37D28-4FD5-C7AE-D636-C18B9B95C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1520"/>
            <a:ext cx="4448048" cy="44119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7C8C60-C2C6-D6F5-11EE-55083A021D08}"/>
              </a:ext>
            </a:extLst>
          </p:cNvPr>
          <p:cNvSpPr txBox="1"/>
          <p:nvPr/>
        </p:nvSpPr>
        <p:spPr>
          <a:xfrm>
            <a:off x="4448048" y="731520"/>
            <a:ext cx="4695952" cy="440120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b="1" u="sng" dirty="0">
                <a:solidFill>
                  <a:srgbClr val="00206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Phase : 03</a:t>
            </a:r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section defines the </a:t>
            </a:r>
            <a:r>
              <a:rPr lang="en-US" sz="1400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RLC_Transmitter</a:t>
            </a:r>
            <a:r>
              <a:rPr lang="en-US" sz="14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class, which represents the sender side of communication. The private part stores internal data like </a:t>
            </a:r>
            <a:r>
              <a:rPr lang="en-US" sz="1400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tx_buffer</a:t>
            </a:r>
            <a:r>
              <a:rPr lang="en-US"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 sent packets, </a:t>
            </a:r>
            <a:r>
              <a:rPr lang="en-US" sz="1400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retx_queue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 retransmissions, and variables such as </a:t>
            </a:r>
            <a:r>
              <a:rPr lang="en-US"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TX_SN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 </a:t>
            </a:r>
            <a:r>
              <a:rPr lang="en-US" sz="1400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poll_counter</a:t>
            </a:r>
            <a:r>
              <a:rPr lang="en-US"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 track sequence numbers and statistics, which are hidden from outside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public part contains usable functions like </a:t>
            </a:r>
            <a:r>
              <a:rPr lang="en-US" sz="1400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build_pdu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which creates a PDU from an SDU and decides when to trigger polling. The const SDU&amp; avoids copying data, bool&amp; poll allows updating the poll flag, and the if condition checks the threshold and prints a message using </a:t>
            </a:r>
            <a:r>
              <a:rPr lang="en-US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cout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IN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733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FA12BC-2912-12C8-E897-577CD89AA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FDB13B-5637-6F03-BAC9-A9071E30ADE8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6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098687-7525-0EA1-B2C1-51765683D4AD}"/>
              </a:ext>
            </a:extLst>
          </p:cNvPr>
          <p:cNvSpPr/>
          <p:nvPr/>
        </p:nvSpPr>
        <p:spPr>
          <a:xfrm>
            <a:off x="3017520" y="54187"/>
            <a:ext cx="30242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Code</a:t>
            </a:r>
            <a:endParaRPr lang="en-US" sz="4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9D4A188-847E-42C1-40B0-4981756DBA13}"/>
              </a:ext>
            </a:extLst>
          </p:cNvPr>
          <p:cNvSpPr/>
          <p:nvPr/>
        </p:nvSpPr>
        <p:spPr>
          <a:xfrm>
            <a:off x="1828800" y="2560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www.cafetele.com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66E2F44-1538-2C80-E597-15F8C3146694}"/>
              </a:ext>
            </a:extLst>
          </p:cNvPr>
          <p:cNvSpPr/>
          <p:nvPr/>
        </p:nvSpPr>
        <p:spPr>
          <a:xfrm>
            <a:off x="182880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Training in: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299F262-6C03-EF44-B6E7-7FE98E1A0323}"/>
              </a:ext>
            </a:extLst>
          </p:cNvPr>
          <p:cNvSpPr/>
          <p:nvPr/>
        </p:nvSpPr>
        <p:spPr>
          <a:xfrm>
            <a:off x="182880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4G/5G • O-RAN • AI/ML • Network Optimization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B0FC94-61DC-AC05-8ECD-68E8CBCFD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1520"/>
            <a:ext cx="3978015" cy="44119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ECB415-588D-7C0D-5150-A1293CBFECA1}"/>
              </a:ext>
            </a:extLst>
          </p:cNvPr>
          <p:cNvSpPr txBox="1"/>
          <p:nvPr/>
        </p:nvSpPr>
        <p:spPr>
          <a:xfrm>
            <a:off x="3978015" y="731520"/>
            <a:ext cx="5165985" cy="440120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4"/>
            <a:r>
              <a:rPr lang="en-US" sz="1400" b="1" u="sng" dirty="0">
                <a:solidFill>
                  <a:srgbClr val="00206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Phase : 04</a:t>
            </a:r>
          </a:p>
          <a:p>
            <a:pPr lvl="4"/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section defines the </a:t>
            </a:r>
            <a:r>
              <a:rPr lang="en-US" sz="1400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RLC_Receiver</a:t>
            </a:r>
            <a:r>
              <a:rPr lang="en-US"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class, which represents the receiving side. Inside the private section, </a:t>
            </a:r>
            <a:r>
              <a:rPr lang="en-US"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map&lt;int, PDU&gt; </a:t>
            </a:r>
            <a:r>
              <a:rPr lang="en-US" sz="1400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rx_buffer</a:t>
            </a:r>
            <a:r>
              <a:rPr lang="en-US"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stores incoming packets in sequence order. Variables like </a:t>
            </a:r>
            <a:r>
              <a:rPr lang="en-US"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RX_NEXT</a:t>
            </a:r>
            <a:r>
              <a:rPr lang="en-US" sz="14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400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total_rx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and </a:t>
            </a:r>
            <a:r>
              <a:rPr lang="en-US" sz="1400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total_delivered</a:t>
            </a:r>
            <a:r>
              <a:rPr lang="en-US"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track the expected next packet and statistics. Keeping these variables private ensures they are only modified inside the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receive function processes incoming PDUs. It prints the received sequence number using </a:t>
            </a:r>
            <a:r>
              <a:rPr lang="en-US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cout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stores the packet in </a:t>
            </a:r>
            <a:r>
              <a:rPr lang="en-US" sz="1400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rx_buffer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and increases the counter using ++. The while loop checks if the next expected packet is available using count(). If available, it delivers the packet in order, removes it using erase(), updates </a:t>
            </a:r>
            <a:r>
              <a:rPr lang="en-US"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RX_NEXT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and increases the delivered count.</a:t>
            </a:r>
          </a:p>
          <a:p>
            <a:endParaRPr lang="en-IN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IN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IN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270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525D4B-95EC-3378-142C-22A1DB0D0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9A9691-494C-D32D-FA95-19118CE7C83C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6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7A529E-4CFA-D2FD-E159-C008F22C005D}"/>
              </a:ext>
            </a:extLst>
          </p:cNvPr>
          <p:cNvSpPr/>
          <p:nvPr/>
        </p:nvSpPr>
        <p:spPr>
          <a:xfrm>
            <a:off x="3017520" y="54187"/>
            <a:ext cx="30242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Code</a:t>
            </a:r>
            <a:endParaRPr lang="en-US" sz="4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D73854C-DE5C-1898-D414-C80A21B5A3BE}"/>
              </a:ext>
            </a:extLst>
          </p:cNvPr>
          <p:cNvSpPr/>
          <p:nvPr/>
        </p:nvSpPr>
        <p:spPr>
          <a:xfrm>
            <a:off x="1828800" y="2560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www.cafetele.com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89FEBAC-C1B8-C7B3-10D1-A69A677AD9F5}"/>
              </a:ext>
            </a:extLst>
          </p:cNvPr>
          <p:cNvSpPr/>
          <p:nvPr/>
        </p:nvSpPr>
        <p:spPr>
          <a:xfrm>
            <a:off x="182880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Training in: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7755E06-97DD-9ED6-015E-C36747FA8817}"/>
              </a:ext>
            </a:extLst>
          </p:cNvPr>
          <p:cNvSpPr/>
          <p:nvPr/>
        </p:nvSpPr>
        <p:spPr>
          <a:xfrm>
            <a:off x="182880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4G/5G • O-RAN • AI/ML • Network Optimization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CE712C-AB36-D726-1634-B8A0E6E22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1520"/>
            <a:ext cx="4572000" cy="44119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5A70E6-CD0D-34BF-ABAC-A6B21C0FD210}"/>
              </a:ext>
            </a:extLst>
          </p:cNvPr>
          <p:cNvSpPr txBox="1"/>
          <p:nvPr/>
        </p:nvSpPr>
        <p:spPr>
          <a:xfrm>
            <a:off x="4572000" y="731520"/>
            <a:ext cx="4572000" cy="440120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3"/>
            <a:r>
              <a:rPr lang="en-US" sz="1400" b="1" u="sng" dirty="0">
                <a:solidFill>
                  <a:srgbClr val="00206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Phase : 05</a:t>
            </a:r>
          </a:p>
          <a:p>
            <a:pPr lvl="3"/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section contains the </a:t>
            </a:r>
            <a:r>
              <a:rPr lang="en-US"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main() function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which is the entry point of the C++ program. Execution always starts from int main(). The </a:t>
            </a:r>
            <a:r>
              <a:rPr lang="en-US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cout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statements print the program title and description using formatted text. The </a:t>
            </a:r>
            <a:r>
              <a:rPr lang="en-US"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vector&lt;SDU&gt; </a:t>
            </a:r>
            <a:r>
              <a:rPr lang="en-US" sz="1400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sdus</a:t>
            </a:r>
            <a:r>
              <a:rPr lang="en-US"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creates a dynamic list to store all data units to be sent during the simulation.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Next, objects </a:t>
            </a:r>
            <a:r>
              <a:rPr lang="en-US" sz="1400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RLC_Transmitter</a:t>
            </a:r>
            <a:r>
              <a:rPr lang="en-US"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tx</a:t>
            </a:r>
            <a:r>
              <a:rPr lang="en-US"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 </a:t>
            </a:r>
            <a:r>
              <a:rPr lang="en-US" sz="1400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RLC_Receiver</a:t>
            </a:r>
            <a:r>
              <a:rPr lang="en-US"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rx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are created to handle sending and receiving operations. The variable </a:t>
            </a:r>
            <a:r>
              <a:rPr lang="en-US" sz="1400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total_delivered</a:t>
            </a:r>
            <a:r>
              <a:rPr lang="en-US"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is used to track how many packets are successfully received. This section controls the overall flow of the program and connects all previous components to run the complete simulation.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IN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654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 (25% packet loss)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3013" y="1514254"/>
            <a:ext cx="8229600" cy="3200400"/>
          </a:xfrm>
          <a:prstGeom prst="rect">
            <a:avLst/>
          </a:prstGeom>
          <a:solidFill>
            <a:srgbClr val="1A1A1A"/>
          </a:solidFill>
          <a:ln w="254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F886F-3620-A6EE-4114-E832BA5ABA66}"/>
              </a:ext>
            </a:extLst>
          </p:cNvPr>
          <p:cNvSpPr txBox="1"/>
          <p:nvPr/>
        </p:nvSpPr>
        <p:spPr>
          <a:xfrm>
            <a:off x="710353" y="1652471"/>
            <a:ext cx="250274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=================================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PHASE 1: SDU Submission from PDCP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=================================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[TX] SDU #0 received from PDCP (100 bytes)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[TX] SDU #1 received from PDCP (150 bytes)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A76C91-416B-31A2-3C4C-C14A8F584F58}"/>
              </a:ext>
            </a:extLst>
          </p:cNvPr>
          <p:cNvSpPr txBox="1"/>
          <p:nvPr/>
        </p:nvSpPr>
        <p:spPr>
          <a:xfrm>
            <a:off x="718819" y="2989203"/>
            <a:ext cx="248581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PHASE 2: Initial Transmission &amp; Channel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[TX] SDU #0 received from PDCP (100 bytes)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[TX] SDU #1 received from PDCP (150 bytes)</a:t>
            </a:r>
          </a:p>
          <a:p>
            <a:endParaRPr lang="en-IN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CDD0D1-CE91-2754-8C1B-160F0C050F33}"/>
              </a:ext>
            </a:extLst>
          </p:cNvPr>
          <p:cNvSpPr txBox="1"/>
          <p:nvPr/>
        </p:nvSpPr>
        <p:spPr>
          <a:xfrm>
            <a:off x="5757333" y="1591733"/>
            <a:ext cx="287528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======================================  PHASE 3: STATUS Report Generation (ARQ)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======================================     [RX] STATUS PDU: ACK_SN=1, NACKs=[1,4]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[TX] Processing STATUS: ACK_SN=1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[TX] SN=0 </a:t>
            </a:r>
            <a:r>
              <a:rPr lang="en-IN" sz="11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ACKed</a:t>
            </a:r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- removed from buffer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[TX] SN=2 </a:t>
            </a:r>
            <a:r>
              <a:rPr lang="en-IN" sz="11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ACKed</a:t>
            </a:r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- removed from buffer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1D9A64-BCCB-C39D-B070-B3E4735D5CE4}"/>
              </a:ext>
            </a:extLst>
          </p:cNvPr>
          <p:cNvSpPr txBox="1"/>
          <p:nvPr/>
        </p:nvSpPr>
        <p:spPr>
          <a:xfrm>
            <a:off x="5818293" y="2887217"/>
            <a:ext cx="272965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====================================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PHASE 4: ARQ Retransmissions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====================================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--- Retransmission Round 1 ---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[TX] Retransmitting SN=1 (attempt 1)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[CH] SN=1 &gt;&gt;&gt; Successfully received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[RX] Received SN=1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[RX] Delivering SN=1 to PDCP (in-order)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[RX] Delivering SN=2 to PDCP (in-order)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[RX] Delivering SN=3 to PDCP (in-order)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FBD2F6-DE25-934F-DAF2-F7BB0995F54E}"/>
              </a:ext>
            </a:extLst>
          </p:cNvPr>
          <p:cNvSpPr txBox="1"/>
          <p:nvPr/>
        </p:nvSpPr>
        <p:spPr>
          <a:xfrm>
            <a:off x="3466252" y="1877933"/>
            <a:ext cx="2018453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PHASE 5: Simulation Statistics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+------------------------------+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    SIMULATION RESULTS       |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+------------------------------+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Total SDUs Submitted:      8 |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Total PDUs Sent:                8 |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Total Retransmissions:      2 |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Total Polls Sent:                  2 |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PDUs Received (Rx):           8 |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SDUs Delivered (PDCP):     8 |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STATUS PDUs Sent:            2 |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Channel Error Rate:      25% |</a:t>
            </a:r>
          </a:p>
          <a:p>
            <a:r>
              <a:rPr lang="en-IN" sz="11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+------------------------------+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640F50-2237-A14F-F1C1-5CDB68974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41A648-4047-18E2-4188-970E23115506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64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362CBF-CAB8-070E-E37B-A9EDF770B4F0}"/>
              </a:ext>
            </a:extLst>
          </p:cNvPr>
          <p:cNvSpPr/>
          <p:nvPr/>
        </p:nvSpPr>
        <p:spPr>
          <a:xfrm>
            <a:off x="2204720" y="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Limitations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7546B-A187-F795-EF3A-8800E8F6EBC4}"/>
              </a:ext>
            </a:extLst>
          </p:cNvPr>
          <p:cNvSpPr txBox="1"/>
          <p:nvPr/>
        </p:nvSpPr>
        <p:spPr>
          <a:xfrm>
            <a:off x="704427" y="1334346"/>
            <a:ext cx="3264746" cy="3139321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bg1"/>
                </a:solidFill>
              </a:rPr>
              <a:t>Advantages</a:t>
            </a:r>
          </a:p>
          <a:p>
            <a:endParaRPr lang="en-US" b="1" i="1" u="sng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• Ensures reliable data delivery in lossy channels.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Follows 3GPP standard specifications.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Easy to modify parameters for experiments.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Improves understanding of 5G protocol behavior.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CA613-65C8-217C-78A8-440A931C53C0}"/>
              </a:ext>
            </a:extLst>
          </p:cNvPr>
          <p:cNvSpPr txBox="1"/>
          <p:nvPr/>
        </p:nvSpPr>
        <p:spPr>
          <a:xfrm>
            <a:off x="5093546" y="1334346"/>
            <a:ext cx="3149600" cy="313932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bg1"/>
                </a:solidFill>
              </a:rPr>
              <a:t>Limitations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• Timers are logically simulated, not real-time.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HARQ mechanism is not included.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Graphical visualization is not available.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Only single-user scenario is implemented.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8190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6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Failure &amp; Recovery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6B3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Trigger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PDU exceeds maxRetxThreshold retransmission attempts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RRC Recovery Procedures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137160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Report RLC failure to RRC layer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137160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Trigger Radio Link Failure (RLF) recovery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137160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Attempt RRC re-establishment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343400"/>
            <a:ext cx="137160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1520" y="43434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Perform cell reselection if needed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137160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1520" y="47548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Handover to different cell as last resort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5DF00B-935D-BBA9-F9FD-F34455E1F056}"/>
              </a:ext>
            </a:extLst>
          </p:cNvPr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2"/>
                </a:solidFill>
              </a:rPr>
              <a:t>                                3 GPP Reference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C1D2B4-8DBA-3FE2-8A3D-6D0A5FBD0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5251"/>
            <a:ext cx="9144000" cy="3430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0903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137160" cy="1371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 provides reliable delivery at RLC layer through retransmission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37160" cy="1371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mechanism ensures timely STATUS feedback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137160" cy="1371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Window-based flow control prevents buffer overflow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37160" cy="1371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delivery guarantees correct SDU sequencing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137160" cy="1371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2918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MAC HARQ for end-to-end reliability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137160" cy="1371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37719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follows 3GPP TS 38.322 specification</a:t>
            </a:r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2EFC83-D3C6-E8E5-36EB-A3C8E32C0567}"/>
              </a:ext>
            </a:extLst>
          </p:cNvPr>
          <p:cNvSpPr txBox="1"/>
          <p:nvPr/>
        </p:nvSpPr>
        <p:spPr>
          <a:xfrm>
            <a:off x="0" y="1747182"/>
            <a:ext cx="9144000" cy="175432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7"/>
            <a:r>
              <a:rPr lang="en-IN" b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Presented By Group : 03</a:t>
            </a:r>
          </a:p>
          <a:p>
            <a:pPr lvl="7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1. Jayavarshini G</a:t>
            </a:r>
          </a:p>
          <a:p>
            <a:pPr lvl="7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2. Harshinie M</a:t>
            </a:r>
          </a:p>
          <a:p>
            <a:pPr lvl="7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3. Yuvaraj P</a:t>
            </a:r>
          </a:p>
          <a:p>
            <a:pPr lvl="7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4. Shreyash Bhatt</a:t>
            </a:r>
          </a:p>
          <a:p>
            <a:pPr lvl="7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5. Vikas Srivastava</a:t>
            </a: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26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017520" y="54187"/>
            <a:ext cx="30242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1811</Words>
  <Application>Microsoft Office PowerPoint</Application>
  <PresentationFormat>On-screen Show (16:9)</PresentationFormat>
  <Paragraphs>269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Cascadia Code SemiBold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5G NR RLC ARQ Process</dc:title>
  <dc:subject>PptxGenJS Presentation</dc:subject>
  <dc:creator>CafeTele Telecom Training</dc:creator>
  <cp:lastModifiedBy>vikas srivastava</cp:lastModifiedBy>
  <cp:revision>20</cp:revision>
  <dcterms:created xsi:type="dcterms:W3CDTF">2026-02-10T06:17:12Z</dcterms:created>
  <dcterms:modified xsi:type="dcterms:W3CDTF">2026-02-11T06:10:28Z</dcterms:modified>
</cp:coreProperties>
</file>